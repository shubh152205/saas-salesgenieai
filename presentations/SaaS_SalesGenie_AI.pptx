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3B82F6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850" b="0" u="none" strike="noStrike">
                    <a:solidFill>
                      <a:srgbClr val="1E293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API Usage</c:v>
                </c:pt>
                <c:pt idx="1">
                  <c:v>Seat Count</c:v>
                </c:pt>
                <c:pt idx="2">
                  <c:v>Funding Stage</c:v>
                </c:pt>
                <c:pt idx="3">
                  <c:v>Company Size</c:v>
                </c:pt>
                <c:pt idx="4">
                  <c:v>Tech Fit</c:v>
                </c:pt>
                <c:pt idx="5">
                  <c:v>Trial Engmt</c:v>
                </c:pt>
                <c:pt idx="6">
                  <c:v>Demo Reqs</c:v>
                </c:pt>
                <c:pt idx="7">
                  <c:v>Payment</c:v>
                </c:pt>
                <c:pt idx="8">
                  <c:v>Industry</c:v>
                </c:pt>
                <c:pt idx="9">
                  <c:v>Deal Velocity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18</c:v>
                </c:pt>
                <c:pt idx="1">
                  <c:v>15</c:v>
                </c:pt>
                <c:pt idx="2">
                  <c:v>13</c:v>
                </c:pt>
                <c:pt idx="3">
                  <c:v>12</c:v>
                </c:pt>
                <c:pt idx="4">
                  <c:v>11</c:v>
                </c:pt>
                <c:pt idx="5">
                  <c:v>10</c:v>
                </c:pt>
                <c:pt idx="6">
                  <c:v>8</c:v>
                </c:pt>
                <c:pt idx="7">
                  <c:v>6</c:v>
                </c:pt>
                <c:pt idx="8">
                  <c:v>4</c:v>
                </c:pt>
                <c:pt idx="9">
                  <c:v>3</c:v>
                </c:pt>
              </c:numCache>
            </c:numRef>
          </c:val>
        </c:ser>
        <c:gapWidth val="150"/>
        <c:overlap val="0"/>
        <c:axId val="48969844"/>
        <c:axId val="80226526"/>
      </c:barChart>
      <c:catAx>
        <c:axId val="489698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1E293B"/>
                </a:solidFill>
                <a:uFillTx/>
                <a:latin typeface="Arial"/>
              </a:defRPr>
            </a:pPr>
          </a:p>
        </c:txPr>
        <c:crossAx val="80226526"/>
        <c:crosses val="autoZero"/>
        <c:auto val="1"/>
        <c:lblAlgn val="ctr"/>
        <c:lblOffset val="100"/>
        <c:noMultiLvlLbl val="0"/>
      </c:catAx>
      <c:valAx>
        <c:axId val="80226526"/>
        <c:scaling>
          <c:orientation val="minMax"/>
        </c:scaling>
        <c:delete val="0"/>
        <c:axPos val="l"/>
        <c:majorGridlines>
          <c:spPr>
            <a:ln w="1260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800" b="0" u="none" strike="noStrik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4896984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22020D6-7B80-4962-BA4F-0B765FFCD00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FF50E6-B709-4637-B2E8-0AE91F97E6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07EA70-526A-4548-9E08-B3EDA2AF64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399799-D85E-4168-AA93-EC0D0F695D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1344D6-3154-4EC1-9066-2709D1193A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2A27DB-E235-461D-B673-FFBCA0B859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41B6F7-6BB9-4A77-BEA6-A45A37849A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D34BC2-25A2-49F1-900C-EE3110F4ED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B56D40-48B2-4C87-B52F-6720E708CA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620956-05D1-451A-BB51-F57C39317B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94560D-8392-4AFD-BA2C-2F24D298BA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26D773-DAEB-44FF-BB73-196327F12B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66BECE-82D0-4E6E-874F-329EEE59CD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 flipV="1">
            <a:off x="822960" y="548640"/>
            <a:ext cx="1097280" cy="365760"/>
          </a:xfrm>
          <a:prstGeom prst="line">
            <a:avLst/>
          </a:prstGeom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" y="914400"/>
            <a:ext cx="640080" cy="914400"/>
          </a:xfrm>
          <a:prstGeom prst="line">
            <a:avLst/>
          </a:prstGeom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457200" y="548640"/>
            <a:ext cx="1463040" cy="1828800"/>
          </a:xfrm>
          <a:prstGeom prst="line">
            <a:avLst/>
          </a:prstGeom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1463040" y="1828800"/>
            <a:ext cx="914400" cy="548640"/>
          </a:xfrm>
          <a:prstGeom prst="line">
            <a:avLst/>
          </a:prstGeom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 flipV="1">
            <a:off x="1463040" y="1097280"/>
            <a:ext cx="1645920" cy="731520"/>
          </a:xfrm>
          <a:prstGeom prst="line">
            <a:avLst/>
          </a:prstGeom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457200" y="2377440"/>
            <a:ext cx="1920240" cy="9000"/>
          </a:xfrm>
          <a:prstGeom prst="line">
            <a:avLst/>
          </a:prstGeom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9875520" y="5120640"/>
            <a:ext cx="1005840" cy="731520"/>
          </a:xfrm>
          <a:prstGeom prst="line">
            <a:avLst/>
          </a:prstGeom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 flipV="1">
            <a:off x="9875520" y="4754880"/>
            <a:ext cx="1645920" cy="365760"/>
          </a:xfrm>
          <a:prstGeom prst="line">
            <a:avLst/>
          </a:prstGeom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9052560" y="5852160"/>
            <a:ext cx="1828800" cy="182880"/>
          </a:xfrm>
          <a:prstGeom prst="line">
            <a:avLst/>
          </a:prstGeom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11155680" y="4754880"/>
            <a:ext cx="365760" cy="1554480"/>
          </a:xfrm>
          <a:prstGeom prst="line">
            <a:avLst/>
          </a:prstGeom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 flipV="1">
            <a:off x="9052560" y="4480560"/>
            <a:ext cx="1005840" cy="1554480"/>
          </a:xfrm>
          <a:prstGeom prst="line">
            <a:avLst/>
          </a:prstGeom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 flipV="1">
            <a:off x="9875520" y="4480560"/>
            <a:ext cx="182880" cy="640080"/>
          </a:xfrm>
          <a:prstGeom prst="line">
            <a:avLst/>
          </a:prstGeom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790920" y="882360"/>
            <a:ext cx="63720" cy="6372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1888200" y="516600"/>
            <a:ext cx="63720" cy="6372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1431000" y="1796760"/>
            <a:ext cx="63720" cy="6372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425160" y="2345400"/>
            <a:ext cx="63720" cy="6372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2345400" y="2345400"/>
            <a:ext cx="63720" cy="6372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3076920" y="1065240"/>
            <a:ext cx="63720" cy="6372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9843480" y="5088600"/>
            <a:ext cx="63720" cy="6372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10849320" y="5820120"/>
            <a:ext cx="63720" cy="6372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11489400" y="4722840"/>
            <a:ext cx="63720" cy="6372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9020520" y="6003000"/>
            <a:ext cx="63720" cy="6372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11123640" y="6277320"/>
            <a:ext cx="63720" cy="6372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10026360" y="4448520"/>
            <a:ext cx="63720" cy="6372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822960" y="21488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93C5FD"/>
                </a:solidFill>
                <a:effectLst/>
                <a:uFillTx/>
                <a:latin typeface="Calibri"/>
                <a:ea typeface="Calibri"/>
              </a:rPr>
              <a:t>B.TECH FINAL YEAR CAPSTONE — MILESTONE 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777240" y="2514600"/>
            <a:ext cx="106066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SaaS SalesGenie AI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822960" y="3611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93C5FD"/>
                </a:solidFill>
                <a:effectLst/>
                <a:uFillTx/>
                <a:latin typeface="Calibri"/>
                <a:ea typeface="Calibri"/>
              </a:rPr>
              <a:t>Autonomous B2B SaaS Sales &amp; Predictive Lead Intelligence Platform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822960" y="4343400"/>
            <a:ext cx="1023840" cy="38376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2E43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822960" y="4343400"/>
            <a:ext cx="1023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React 18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9"/>
          <p:cNvSpPr/>
          <p:nvPr/>
        </p:nvSpPr>
        <p:spPr>
          <a:xfrm>
            <a:off x="2011680" y="4343400"/>
            <a:ext cx="927720" cy="38376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2E43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0"/>
          <p:cNvSpPr/>
          <p:nvPr/>
        </p:nvSpPr>
        <p:spPr>
          <a:xfrm>
            <a:off x="2011680" y="4343400"/>
            <a:ext cx="927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FastAPI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1"/>
          <p:cNvSpPr/>
          <p:nvPr/>
        </p:nvSpPr>
        <p:spPr>
          <a:xfrm>
            <a:off x="3104280" y="4343400"/>
            <a:ext cx="1407960" cy="38376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2E43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2"/>
          <p:cNvSpPr/>
          <p:nvPr/>
        </p:nvSpPr>
        <p:spPr>
          <a:xfrm>
            <a:off x="3104280" y="4343400"/>
            <a:ext cx="1407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Scikit-Learn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4677120" y="4343400"/>
            <a:ext cx="1215720" cy="38376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2E43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4"/>
          <p:cNvSpPr/>
          <p:nvPr/>
        </p:nvSpPr>
        <p:spPr>
          <a:xfrm>
            <a:off x="4677120" y="4343400"/>
            <a:ext cx="121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NVIDIA NIM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5"/>
          <p:cNvSpPr/>
          <p:nvPr/>
        </p:nvSpPr>
        <p:spPr>
          <a:xfrm>
            <a:off x="822960" y="5989320"/>
            <a:ext cx="10515600" cy="360"/>
          </a:xfrm>
          <a:prstGeom prst="line">
            <a:avLst/>
          </a:prstGeom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6"/>
          <p:cNvSpPr/>
          <p:nvPr/>
        </p:nvSpPr>
        <p:spPr>
          <a:xfrm>
            <a:off x="822960" y="61448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Shubh Sharma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   |   CSE Final Year   |   B.Tech Project   |   Milestone 4   |   ABC Institute of Technology   |   2026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548640" y="4114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THE PROBLEM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48640" y="68580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The B2B SaaS Revenue Crisis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548640" y="1600200"/>
            <a:ext cx="2486880" cy="44802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38160" kx="0" ky="0" rotWithShape="0" sx="100000" sy="100000">
              <a:srgbClr val="94A3B8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868680" y="1920240"/>
            <a:ext cx="566640" cy="566640"/>
          </a:xfrm>
          <a:prstGeom prst="ellipse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868680" y="19202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$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777240" y="2651760"/>
            <a:ext cx="2029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DC2626"/>
                </a:solidFill>
                <a:effectLst/>
                <a:uFillTx/>
                <a:latin typeface="Cambria"/>
                <a:ea typeface="Cambria"/>
              </a:rPr>
              <a:t>91%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777240" y="3474720"/>
            <a:ext cx="2029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High CAC, Low Trial Conversion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777240" y="4297680"/>
            <a:ext cx="20296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of B2B SaaS trials never convert to a paid plan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3291840" y="1600200"/>
            <a:ext cx="2486880" cy="44802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38160" kx="0" ky="0" rotWithShape="0" sx="100000" sy="100000">
              <a:srgbClr val="94A3B8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9"/>
          <p:cNvSpPr/>
          <p:nvPr/>
        </p:nvSpPr>
        <p:spPr>
          <a:xfrm>
            <a:off x="3611880" y="1920240"/>
            <a:ext cx="566640" cy="5666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3611880" y="19202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⏳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3520440" y="2651760"/>
            <a:ext cx="2029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59E0B"/>
                </a:solidFill>
                <a:effectLst/>
                <a:uFillTx/>
                <a:latin typeface="Cambria"/>
                <a:ea typeface="Cambria"/>
              </a:rPr>
              <a:t>60%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3520440" y="3474720"/>
            <a:ext cx="2029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Manual Lead Qualification Waste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3520440" y="4297680"/>
            <a:ext cx="20296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of SDR time spent on low-probability leads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4"/>
          <p:cNvSpPr/>
          <p:nvPr/>
        </p:nvSpPr>
        <p:spPr>
          <a:xfrm>
            <a:off x="6035040" y="1600200"/>
            <a:ext cx="2486880" cy="44802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38160" kx="0" ky="0" rotWithShape="0" sx="100000" sy="100000">
              <a:srgbClr val="94A3B8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5"/>
          <p:cNvSpPr/>
          <p:nvPr/>
        </p:nvSpPr>
        <p:spPr>
          <a:xfrm>
            <a:off x="6355080" y="1920240"/>
            <a:ext cx="566640" cy="56664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6355080" y="19202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✉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7"/>
          <p:cNvSpPr/>
          <p:nvPr/>
        </p:nvSpPr>
        <p:spPr>
          <a:xfrm>
            <a:off x="6263640" y="2651760"/>
            <a:ext cx="2029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3B82F6"/>
                </a:solidFill>
                <a:effectLst/>
                <a:uFillTx/>
                <a:latin typeface="Cambria"/>
                <a:ea typeface="Cambria"/>
              </a:rPr>
              <a:t>1.6%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8"/>
          <p:cNvSpPr/>
          <p:nvPr/>
        </p:nvSpPr>
        <p:spPr>
          <a:xfrm>
            <a:off x="6263640" y="3474720"/>
            <a:ext cx="2029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Generic Outreach, Zero Personalization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9"/>
          <p:cNvSpPr/>
          <p:nvPr/>
        </p:nvSpPr>
        <p:spPr>
          <a:xfrm>
            <a:off x="6263640" y="4297680"/>
            <a:ext cx="20296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average cold-email reply rate industry-wide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0"/>
          <p:cNvSpPr/>
          <p:nvPr/>
        </p:nvSpPr>
        <p:spPr>
          <a:xfrm>
            <a:off x="8778240" y="1600200"/>
            <a:ext cx="2486880" cy="44802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38160" kx="0" ky="0" rotWithShape="0" sx="100000" sy="100000">
              <a:srgbClr val="94A3B8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1"/>
          <p:cNvSpPr/>
          <p:nvPr/>
        </p:nvSpPr>
        <p:spPr>
          <a:xfrm>
            <a:off x="9098280" y="1920240"/>
            <a:ext cx="566640" cy="5666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2"/>
          <p:cNvSpPr/>
          <p:nvPr/>
        </p:nvSpPr>
        <p:spPr>
          <a:xfrm>
            <a:off x="9098280" y="19202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◉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3"/>
          <p:cNvSpPr/>
          <p:nvPr/>
        </p:nvSpPr>
        <p:spPr>
          <a:xfrm>
            <a:off x="9006840" y="2651760"/>
            <a:ext cx="2029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7C3AED"/>
                </a:solidFill>
                <a:effectLst/>
                <a:uFillTx/>
                <a:latin typeface="Cambria"/>
                <a:ea typeface="Cambria"/>
              </a:rPr>
              <a:t>78%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4"/>
          <p:cNvSpPr/>
          <p:nvPr/>
        </p:nvSpPr>
        <p:spPr>
          <a:xfrm>
            <a:off x="9006840" y="3474720"/>
            <a:ext cx="2029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Lost Demo Meeting Intelligence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5"/>
          <p:cNvSpPr/>
          <p:nvPr/>
        </p:nvSpPr>
        <p:spPr>
          <a:xfrm>
            <a:off x="9006840" y="4297680"/>
            <a:ext cx="20296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of meeting insights forgotten within 24 hours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6"/>
          <p:cNvSpPr/>
          <p:nvPr/>
        </p:nvSpPr>
        <p:spPr>
          <a:xfrm>
            <a:off x="11475720" y="65106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02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548640" y="4114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INTRODUCTION &amp; VISION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548640" y="6858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What is SaaS SalesGenie AI?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548640" y="1463040"/>
            <a:ext cx="11063880" cy="86832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822960" y="1463040"/>
            <a:ext cx="10515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u="none" strike="noStrike">
                <a:solidFill>
                  <a:srgbClr val="93C5FD"/>
                </a:solidFill>
                <a:effectLst/>
                <a:uFillTx/>
                <a:latin typeface="Cambria"/>
                <a:ea typeface="Cambria"/>
              </a:rPr>
              <a:t>“Where Supervised ML meets Agentic Generative AI to accelerate enterprise SaaS revenue.”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548640" y="25146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Platform Type:  Full-Stack B2B SaaS CRM + AI Intelligence Platform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5"/>
          <p:cNvSpPr/>
          <p:nvPr/>
        </p:nvSpPr>
        <p:spPr>
          <a:xfrm>
            <a:off x="548640" y="3063240"/>
            <a:ext cx="248688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6"/>
          <p:cNvSpPr/>
          <p:nvPr/>
        </p:nvSpPr>
        <p:spPr>
          <a:xfrm>
            <a:off x="777240" y="3291840"/>
            <a:ext cx="502560" cy="50256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777240" y="3291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731520" y="3931920"/>
            <a:ext cx="212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Lead Scoring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731520" y="4297680"/>
            <a:ext cx="2121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Random Forest predicts deal-close intent from 10 SaaS signals in real time.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0"/>
          <p:cNvSpPr/>
          <p:nvPr/>
        </p:nvSpPr>
        <p:spPr>
          <a:xfrm>
            <a:off x="3291840" y="3063240"/>
            <a:ext cx="248688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1"/>
          <p:cNvSpPr/>
          <p:nvPr/>
        </p:nvSpPr>
        <p:spPr>
          <a:xfrm>
            <a:off x="3520440" y="3291840"/>
            <a:ext cx="502560" cy="50256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3520440" y="3291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▦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3474720" y="3931920"/>
            <a:ext cx="212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Deal Benchmarking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3474720" y="4297680"/>
            <a:ext cx="2121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TF-IDF similarity matches leads to 60+ historical Closed-Won contracts.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5"/>
          <p:cNvSpPr/>
          <p:nvPr/>
        </p:nvSpPr>
        <p:spPr>
          <a:xfrm>
            <a:off x="6035040" y="3063240"/>
            <a:ext cx="248688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6"/>
          <p:cNvSpPr/>
          <p:nvPr/>
        </p:nvSpPr>
        <p:spPr>
          <a:xfrm>
            <a:off x="6263640" y="3291840"/>
            <a:ext cx="502560" cy="50256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7"/>
          <p:cNvSpPr/>
          <p:nvPr/>
        </p:nvSpPr>
        <p:spPr>
          <a:xfrm>
            <a:off x="6263640" y="3291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8"/>
          <p:cNvSpPr/>
          <p:nvPr/>
        </p:nvSpPr>
        <p:spPr>
          <a:xfrm>
            <a:off x="6217920" y="3931920"/>
            <a:ext cx="212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Meeting NLP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9"/>
          <p:cNvSpPr/>
          <p:nvPr/>
        </p:nvSpPr>
        <p:spPr>
          <a:xfrm>
            <a:off x="6217920" y="4297680"/>
            <a:ext cx="2121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Speech-to-text and sentiment analysis extract objections automatically.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0"/>
          <p:cNvSpPr/>
          <p:nvPr/>
        </p:nvSpPr>
        <p:spPr>
          <a:xfrm>
            <a:off x="8778240" y="3063240"/>
            <a:ext cx="248688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1"/>
          <p:cNvSpPr/>
          <p:nvPr/>
        </p:nvSpPr>
        <p:spPr>
          <a:xfrm>
            <a:off x="9006840" y="3291840"/>
            <a:ext cx="502560" cy="50256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2"/>
          <p:cNvSpPr/>
          <p:nvPr/>
        </p:nvSpPr>
        <p:spPr>
          <a:xfrm>
            <a:off x="9006840" y="3291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3"/>
          <p:cNvSpPr/>
          <p:nvPr/>
        </p:nvSpPr>
        <p:spPr>
          <a:xfrm>
            <a:off x="8961120" y="3931920"/>
            <a:ext cx="212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Agentic Outreach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4"/>
          <p:cNvSpPr/>
          <p:nvPr/>
        </p:nvSpPr>
        <p:spPr>
          <a:xfrm>
            <a:off x="8961120" y="4297680"/>
            <a:ext cx="2121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NVIDIA NIM Llama 3.1 70B drafts personalized, context-aware outreach.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5"/>
          <p:cNvSpPr/>
          <p:nvPr/>
        </p:nvSpPr>
        <p:spPr>
          <a:xfrm>
            <a:off x="548640" y="562356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Target Users: 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SDRs  •  Account Executives (AEs)  •  RevOps Teams  •  CROs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6"/>
          <p:cNvSpPr/>
          <p:nvPr/>
        </p:nvSpPr>
        <p:spPr>
          <a:xfrm>
            <a:off x="11475720" y="65106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03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548640" y="3657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93C5FD"/>
                </a:solidFill>
                <a:effectLst/>
                <a:uFillTx/>
                <a:latin typeface="Calibri"/>
                <a:ea typeface="Calibri"/>
              </a:rPr>
              <a:t>FLAGSHIP SLIDE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548640" y="64008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4-Tier Decoupled SaaS Architecture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685800" y="1600200"/>
            <a:ext cx="2331360" cy="137124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905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868680" y="174636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3B82F6"/>
                </a:solidFill>
                <a:effectLst/>
                <a:uFillTx/>
                <a:latin typeface="Courier New"/>
                <a:ea typeface="Courier New"/>
              </a:rPr>
              <a:t>TIER 1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868680" y="2057400"/>
            <a:ext cx="196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React 18 Client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868680" y="2532960"/>
            <a:ext cx="196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Vite • TailAdmin • Recharts • JWT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6"/>
          <p:cNvSpPr/>
          <p:nvPr/>
        </p:nvSpPr>
        <p:spPr>
          <a:xfrm>
            <a:off x="3072240" y="2185560"/>
            <a:ext cx="3470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7"/>
          <p:cNvSpPr/>
          <p:nvPr/>
        </p:nvSpPr>
        <p:spPr>
          <a:xfrm>
            <a:off x="3474720" y="1600200"/>
            <a:ext cx="2331360" cy="137124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3657600" y="174636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Courier New"/>
                <a:ea typeface="Courier New"/>
              </a:rPr>
              <a:t>TIER 2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3657600" y="2057400"/>
            <a:ext cx="196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FastAPI Gateway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3657600" y="2532960"/>
            <a:ext cx="196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Async ASGI • Pydantic v2 • CORS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1"/>
          <p:cNvSpPr/>
          <p:nvPr/>
        </p:nvSpPr>
        <p:spPr>
          <a:xfrm>
            <a:off x="5861160" y="2185560"/>
            <a:ext cx="3470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2"/>
          <p:cNvSpPr/>
          <p:nvPr/>
        </p:nvSpPr>
        <p:spPr>
          <a:xfrm>
            <a:off x="6263640" y="1600200"/>
            <a:ext cx="2331360" cy="137124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6446520" y="174636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Courier New"/>
                <a:ea typeface="Courier New"/>
              </a:rPr>
              <a:t>TIER 3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6446520" y="2057400"/>
            <a:ext cx="196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ML Engine + NIM LLM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6446520" y="2532960"/>
            <a:ext cx="196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Scikit-Learn • NVIDIA NIM 70B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6"/>
          <p:cNvSpPr/>
          <p:nvPr/>
        </p:nvSpPr>
        <p:spPr>
          <a:xfrm>
            <a:off x="8650080" y="2185560"/>
            <a:ext cx="3470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7"/>
          <p:cNvSpPr/>
          <p:nvPr/>
        </p:nvSpPr>
        <p:spPr>
          <a:xfrm>
            <a:off x="9052560" y="1600200"/>
            <a:ext cx="2331360" cy="137124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905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8"/>
          <p:cNvSpPr/>
          <p:nvPr/>
        </p:nvSpPr>
        <p:spPr>
          <a:xfrm>
            <a:off x="9235440" y="174636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78BFA"/>
                </a:solidFill>
                <a:effectLst/>
                <a:uFillTx/>
                <a:latin typeface="Courier New"/>
                <a:ea typeface="Courier New"/>
              </a:rPr>
              <a:t>TIER 4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9235440" y="2057400"/>
            <a:ext cx="196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SQLite WAL DB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9235440" y="2532960"/>
            <a:ext cx="196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Indexed Schema • 60+ Records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2926080" y="302652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REST API / JSON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2"/>
          <p:cNvSpPr/>
          <p:nvPr/>
        </p:nvSpPr>
        <p:spPr>
          <a:xfrm>
            <a:off x="5715000" y="302652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Inference Calls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8503920" y="302652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SQL Queries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4"/>
          <p:cNvSpPr/>
          <p:nvPr/>
        </p:nvSpPr>
        <p:spPr>
          <a:xfrm>
            <a:off x="685800" y="34290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93C5FD"/>
                </a:solidFill>
                <a:effectLst/>
                <a:uFillTx/>
                <a:latin typeface="Calibri"/>
                <a:ea typeface="Calibri"/>
              </a:rPr>
              <a:t>KEY DESIGN DECISIONS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5"/>
          <p:cNvSpPr/>
          <p:nvPr/>
        </p:nvSpPr>
        <p:spPr>
          <a:xfrm>
            <a:off x="685800" y="3794760"/>
            <a:ext cx="3428640" cy="1416960"/>
          </a:xfrm>
          <a:prstGeom prst="roundRect">
            <a:avLst>
              <a:gd name="adj" fmla="val 5161"/>
            </a:avLst>
          </a:prstGeom>
          <a:solidFill>
            <a:srgbClr val="13203C"/>
          </a:solidFill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6"/>
          <p:cNvSpPr/>
          <p:nvPr/>
        </p:nvSpPr>
        <p:spPr>
          <a:xfrm>
            <a:off x="887040" y="4014360"/>
            <a:ext cx="109440" cy="1094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7"/>
          <p:cNvSpPr/>
          <p:nvPr/>
        </p:nvSpPr>
        <p:spPr>
          <a:xfrm>
            <a:off x="1124640" y="3922920"/>
            <a:ext cx="2788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Async I/O Throughout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8"/>
          <p:cNvSpPr/>
          <p:nvPr/>
        </p:nvSpPr>
        <p:spPr>
          <a:xfrm>
            <a:off x="887040" y="4361760"/>
            <a:ext cx="3026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Non-blocking ASGI request handling end to end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9"/>
          <p:cNvSpPr/>
          <p:nvPr/>
        </p:nvSpPr>
        <p:spPr>
          <a:xfrm>
            <a:off x="4434840" y="3794760"/>
            <a:ext cx="3428640" cy="1416960"/>
          </a:xfrm>
          <a:prstGeom prst="roundRect">
            <a:avLst>
              <a:gd name="adj" fmla="val 5161"/>
            </a:avLst>
          </a:prstGeom>
          <a:solidFill>
            <a:srgbClr val="13203C"/>
          </a:solidFill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0"/>
          <p:cNvSpPr/>
          <p:nvPr/>
        </p:nvSpPr>
        <p:spPr>
          <a:xfrm>
            <a:off x="4636080" y="4014360"/>
            <a:ext cx="109440" cy="1094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1"/>
          <p:cNvSpPr/>
          <p:nvPr/>
        </p:nvSpPr>
        <p:spPr>
          <a:xfrm>
            <a:off x="4873680" y="3922920"/>
            <a:ext cx="2788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Zero Cloud ML Lock-in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2"/>
          <p:cNvSpPr/>
          <p:nvPr/>
        </p:nvSpPr>
        <p:spPr>
          <a:xfrm>
            <a:off x="4636080" y="4361760"/>
            <a:ext cx="3026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Random Forest inference runs 100% locally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3"/>
          <p:cNvSpPr/>
          <p:nvPr/>
        </p:nvSpPr>
        <p:spPr>
          <a:xfrm>
            <a:off x="8183880" y="3794760"/>
            <a:ext cx="3428640" cy="1416960"/>
          </a:xfrm>
          <a:prstGeom prst="roundRect">
            <a:avLst>
              <a:gd name="adj" fmla="val 5161"/>
            </a:avLst>
          </a:prstGeom>
          <a:solidFill>
            <a:srgbClr val="13203C"/>
          </a:solidFill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34"/>
          <p:cNvSpPr/>
          <p:nvPr/>
        </p:nvSpPr>
        <p:spPr>
          <a:xfrm>
            <a:off x="8385120" y="4014360"/>
            <a:ext cx="109440" cy="1094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5"/>
          <p:cNvSpPr/>
          <p:nvPr/>
        </p:nvSpPr>
        <p:spPr>
          <a:xfrm>
            <a:off x="8622720" y="3922920"/>
            <a:ext cx="2788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Sub-15ms ML Latency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6"/>
          <p:cNvSpPr/>
          <p:nvPr/>
        </p:nvSpPr>
        <p:spPr>
          <a:xfrm>
            <a:off x="8385120" y="4361760"/>
            <a:ext cx="3026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Deterministic scoring at production scale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7"/>
          <p:cNvSpPr/>
          <p:nvPr/>
        </p:nvSpPr>
        <p:spPr>
          <a:xfrm>
            <a:off x="685800" y="54406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Every tier communicates over versioned REST contracts — enabling independent scaling and zero-downtime deploys per layer.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8"/>
          <p:cNvSpPr/>
          <p:nvPr/>
        </p:nvSpPr>
        <p:spPr>
          <a:xfrm>
            <a:off x="11475720" y="65106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04 / 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548640" y="4114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TECHNOLOGY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548640" y="6858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Enterprise Technology Stack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"/>
          <p:cNvSpPr/>
          <p:nvPr/>
        </p:nvSpPr>
        <p:spPr>
          <a:xfrm>
            <a:off x="548640" y="1554480"/>
            <a:ext cx="534888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804600" y="1810440"/>
            <a:ext cx="566640" cy="56664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804600" y="18104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1554480" y="1737360"/>
            <a:ext cx="4160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Frontend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1554480" y="2121480"/>
            <a:ext cx="4160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React 18, Vite, TailAdmin, Recharts, Lucide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7"/>
          <p:cNvSpPr/>
          <p:nvPr/>
        </p:nvSpPr>
        <p:spPr>
          <a:xfrm>
            <a:off x="6217920" y="1554480"/>
            <a:ext cx="534888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8"/>
          <p:cNvSpPr/>
          <p:nvPr/>
        </p:nvSpPr>
        <p:spPr>
          <a:xfrm>
            <a:off x="6473880" y="1810440"/>
            <a:ext cx="566640" cy="56664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9"/>
          <p:cNvSpPr/>
          <p:nvPr/>
        </p:nvSpPr>
        <p:spPr>
          <a:xfrm>
            <a:off x="6473880" y="18104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0"/>
          <p:cNvSpPr/>
          <p:nvPr/>
        </p:nvSpPr>
        <p:spPr>
          <a:xfrm>
            <a:off x="7223760" y="1737360"/>
            <a:ext cx="4160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Backend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7223760" y="2121480"/>
            <a:ext cx="4160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FastAPI, Uvicorn, Pydantic v2, PyJWT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2"/>
          <p:cNvSpPr/>
          <p:nvPr/>
        </p:nvSpPr>
        <p:spPr>
          <a:xfrm>
            <a:off x="548640" y="3264480"/>
            <a:ext cx="534888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3"/>
          <p:cNvSpPr/>
          <p:nvPr/>
        </p:nvSpPr>
        <p:spPr>
          <a:xfrm>
            <a:off x="804600" y="3520440"/>
            <a:ext cx="566640" cy="5666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804600" y="35204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5"/>
          <p:cNvSpPr/>
          <p:nvPr/>
        </p:nvSpPr>
        <p:spPr>
          <a:xfrm>
            <a:off x="1554480" y="3447360"/>
            <a:ext cx="4160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ML /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1554480" y="3831480"/>
            <a:ext cx="4160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Scikit-Learn, Random Forest, TF-IDF, NVIDIA NIM Llama 3.1 70B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7"/>
          <p:cNvSpPr/>
          <p:nvPr/>
        </p:nvSpPr>
        <p:spPr>
          <a:xfrm>
            <a:off x="6217920" y="3264480"/>
            <a:ext cx="534888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8"/>
          <p:cNvSpPr/>
          <p:nvPr/>
        </p:nvSpPr>
        <p:spPr>
          <a:xfrm>
            <a:off x="6473880" y="3520440"/>
            <a:ext cx="566640" cy="5666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9"/>
          <p:cNvSpPr/>
          <p:nvPr/>
        </p:nvSpPr>
        <p:spPr>
          <a:xfrm>
            <a:off x="6473880" y="35204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0"/>
          <p:cNvSpPr/>
          <p:nvPr/>
        </p:nvSpPr>
        <p:spPr>
          <a:xfrm>
            <a:off x="7223760" y="3447360"/>
            <a:ext cx="4160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Database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1"/>
          <p:cNvSpPr/>
          <p:nvPr/>
        </p:nvSpPr>
        <p:spPr>
          <a:xfrm>
            <a:off x="7223760" y="3831480"/>
            <a:ext cx="4160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SQLite WAL, Indexed Schema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2"/>
          <p:cNvSpPr/>
          <p:nvPr/>
        </p:nvSpPr>
        <p:spPr>
          <a:xfrm>
            <a:off x="548640" y="4974480"/>
            <a:ext cx="534888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3"/>
          <p:cNvSpPr/>
          <p:nvPr/>
        </p:nvSpPr>
        <p:spPr>
          <a:xfrm>
            <a:off x="804600" y="5230440"/>
            <a:ext cx="566640" cy="566640"/>
          </a:xfrm>
          <a:prstGeom prst="ellipse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4"/>
          <p:cNvSpPr/>
          <p:nvPr/>
        </p:nvSpPr>
        <p:spPr>
          <a:xfrm>
            <a:off x="804600" y="52304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⚭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5"/>
          <p:cNvSpPr/>
          <p:nvPr/>
        </p:nvSpPr>
        <p:spPr>
          <a:xfrm>
            <a:off x="1554480" y="5157360"/>
            <a:ext cx="4160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Security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6"/>
          <p:cNvSpPr/>
          <p:nvPr/>
        </p:nvSpPr>
        <p:spPr>
          <a:xfrm>
            <a:off x="1554480" y="5541120"/>
            <a:ext cx="4160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PBKDF2+HMAC, RS256 JWT, CORS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7"/>
          <p:cNvSpPr/>
          <p:nvPr/>
        </p:nvSpPr>
        <p:spPr>
          <a:xfrm>
            <a:off x="6217920" y="4974480"/>
            <a:ext cx="534888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8"/>
          <p:cNvSpPr/>
          <p:nvPr/>
        </p:nvSpPr>
        <p:spPr>
          <a:xfrm>
            <a:off x="6473880" y="5230440"/>
            <a:ext cx="566640" cy="566640"/>
          </a:xfrm>
          <a:prstGeom prst="ellipse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9"/>
          <p:cNvSpPr/>
          <p:nvPr/>
        </p:nvSpPr>
        <p:spPr>
          <a:xfrm>
            <a:off x="6473880" y="52304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0"/>
          <p:cNvSpPr/>
          <p:nvPr/>
        </p:nvSpPr>
        <p:spPr>
          <a:xfrm>
            <a:off x="7223760" y="5157360"/>
            <a:ext cx="4160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Testing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1"/>
          <p:cNvSpPr/>
          <p:nvPr/>
        </p:nvSpPr>
        <p:spPr>
          <a:xfrm>
            <a:off x="7223760" y="5541120"/>
            <a:ext cx="4160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Pytest, 22 tests, 100% pass rate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2"/>
          <p:cNvSpPr/>
          <p:nvPr/>
        </p:nvSpPr>
        <p:spPr>
          <a:xfrm>
            <a:off x="11475720" y="65106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05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/>
          <p:nvPr/>
        </p:nvSpPr>
        <p:spPr>
          <a:xfrm>
            <a:off x="548640" y="3657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PRODUCT MODULES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548640" y="64008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6 Intelligent SaaS Modules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"/>
          <p:cNvSpPr/>
          <p:nvPr/>
        </p:nvSpPr>
        <p:spPr>
          <a:xfrm>
            <a:off x="548640" y="1463040"/>
            <a:ext cx="3520080" cy="1919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749880" y="15912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>01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4"/>
          <p:cNvSpPr/>
          <p:nvPr/>
        </p:nvSpPr>
        <p:spPr>
          <a:xfrm>
            <a:off x="3383280" y="1645920"/>
            <a:ext cx="456840" cy="45684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5"/>
          <p:cNvSpPr/>
          <p:nvPr/>
        </p:nvSpPr>
        <p:spPr>
          <a:xfrm>
            <a:off x="3383280" y="16459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▦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749880" y="2176200"/>
            <a:ext cx="3117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Executive KPI Dashboard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749880" y="2907720"/>
            <a:ext cx="3117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$1.86M ARR Tracked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8"/>
          <p:cNvSpPr/>
          <p:nvPr/>
        </p:nvSpPr>
        <p:spPr>
          <a:xfrm>
            <a:off x="4325040" y="1463040"/>
            <a:ext cx="3520080" cy="1919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4526280" y="15912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>02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0"/>
          <p:cNvSpPr/>
          <p:nvPr/>
        </p:nvSpPr>
        <p:spPr>
          <a:xfrm>
            <a:off x="7159680" y="1645920"/>
            <a:ext cx="456840" cy="45684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1"/>
          <p:cNvSpPr/>
          <p:nvPr/>
        </p:nvSpPr>
        <p:spPr>
          <a:xfrm>
            <a:off x="7159680" y="16459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◉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4526280" y="2176200"/>
            <a:ext cx="3117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Random Forest Lead Intent Scorer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3"/>
          <p:cNvSpPr/>
          <p:nvPr/>
        </p:nvSpPr>
        <p:spPr>
          <a:xfrm>
            <a:off x="4526280" y="2907720"/>
            <a:ext cx="3117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94.2% Accuracy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4"/>
          <p:cNvSpPr/>
          <p:nvPr/>
        </p:nvSpPr>
        <p:spPr>
          <a:xfrm>
            <a:off x="8101440" y="1463040"/>
            <a:ext cx="3520080" cy="1919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5"/>
          <p:cNvSpPr/>
          <p:nvPr/>
        </p:nvSpPr>
        <p:spPr>
          <a:xfrm>
            <a:off x="8302680" y="15912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>03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6"/>
          <p:cNvSpPr/>
          <p:nvPr/>
        </p:nvSpPr>
        <p:spPr>
          <a:xfrm>
            <a:off x="10936080" y="1645920"/>
            <a:ext cx="456840" cy="4568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7"/>
          <p:cNvSpPr/>
          <p:nvPr/>
        </p:nvSpPr>
        <p:spPr>
          <a:xfrm>
            <a:off x="10936080" y="16459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≡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8"/>
          <p:cNvSpPr/>
          <p:nvPr/>
        </p:nvSpPr>
        <p:spPr>
          <a:xfrm>
            <a:off x="8302680" y="2176200"/>
            <a:ext cx="3117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TF-IDF Deal Benchmarker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9"/>
          <p:cNvSpPr/>
          <p:nvPr/>
        </p:nvSpPr>
        <p:spPr>
          <a:xfrm>
            <a:off x="8302680" y="2907720"/>
            <a:ext cx="3117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60+ Contracts Matched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0"/>
          <p:cNvSpPr/>
          <p:nvPr/>
        </p:nvSpPr>
        <p:spPr>
          <a:xfrm>
            <a:off x="548640" y="3639240"/>
            <a:ext cx="3520080" cy="1919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1"/>
          <p:cNvSpPr/>
          <p:nvPr/>
        </p:nvSpPr>
        <p:spPr>
          <a:xfrm>
            <a:off x="749880" y="37674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>04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2"/>
          <p:cNvSpPr/>
          <p:nvPr/>
        </p:nvSpPr>
        <p:spPr>
          <a:xfrm>
            <a:off x="3383280" y="3822120"/>
            <a:ext cx="456840" cy="456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3"/>
          <p:cNvSpPr/>
          <p:nvPr/>
        </p:nvSpPr>
        <p:spPr>
          <a:xfrm>
            <a:off x="3383280" y="3822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✉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4"/>
          <p:cNvSpPr/>
          <p:nvPr/>
        </p:nvSpPr>
        <p:spPr>
          <a:xfrm>
            <a:off x="749880" y="4352400"/>
            <a:ext cx="3117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NVIDIA NIM Agentic Outreach Engine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5"/>
          <p:cNvSpPr/>
          <p:nvPr/>
        </p:nvSpPr>
        <p:spPr>
          <a:xfrm>
            <a:off x="749880" y="5083920"/>
            <a:ext cx="3117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3.2× Response Rate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6"/>
          <p:cNvSpPr/>
          <p:nvPr/>
        </p:nvSpPr>
        <p:spPr>
          <a:xfrm>
            <a:off x="4325040" y="3639240"/>
            <a:ext cx="3520080" cy="1919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7"/>
          <p:cNvSpPr/>
          <p:nvPr/>
        </p:nvSpPr>
        <p:spPr>
          <a:xfrm>
            <a:off x="4526280" y="37674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>05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8"/>
          <p:cNvSpPr/>
          <p:nvPr/>
        </p:nvSpPr>
        <p:spPr>
          <a:xfrm>
            <a:off x="7159680" y="3822120"/>
            <a:ext cx="456840" cy="456840"/>
          </a:xfrm>
          <a:prstGeom prst="ellipse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9"/>
          <p:cNvSpPr/>
          <p:nvPr/>
        </p:nvSpPr>
        <p:spPr>
          <a:xfrm>
            <a:off x="7159680" y="3822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♫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0"/>
          <p:cNvSpPr/>
          <p:nvPr/>
        </p:nvSpPr>
        <p:spPr>
          <a:xfrm>
            <a:off x="4526280" y="4352400"/>
            <a:ext cx="3117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Meeting Intelligence &amp; NLP Analyzer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1"/>
          <p:cNvSpPr/>
          <p:nvPr/>
        </p:nvSpPr>
        <p:spPr>
          <a:xfrm>
            <a:off x="4526280" y="5083920"/>
            <a:ext cx="3117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Auto Objection Extraction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2"/>
          <p:cNvSpPr/>
          <p:nvPr/>
        </p:nvSpPr>
        <p:spPr>
          <a:xfrm>
            <a:off x="8101440" y="3639240"/>
            <a:ext cx="3520080" cy="1919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3"/>
          <p:cNvSpPr/>
          <p:nvPr/>
        </p:nvSpPr>
        <p:spPr>
          <a:xfrm>
            <a:off x="8302680" y="37674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>06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4"/>
          <p:cNvSpPr/>
          <p:nvPr/>
        </p:nvSpPr>
        <p:spPr>
          <a:xfrm>
            <a:off x="10936080" y="3822120"/>
            <a:ext cx="456840" cy="456840"/>
          </a:xfrm>
          <a:prstGeom prst="ellipse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5"/>
          <p:cNvSpPr/>
          <p:nvPr/>
        </p:nvSpPr>
        <p:spPr>
          <a:xfrm>
            <a:off x="10936080" y="3822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▤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6"/>
          <p:cNvSpPr/>
          <p:nvPr/>
        </p:nvSpPr>
        <p:spPr>
          <a:xfrm>
            <a:off x="8302680" y="4352400"/>
            <a:ext cx="3117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Kanban Deal Pipeline Manager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7"/>
          <p:cNvSpPr/>
          <p:nvPr/>
        </p:nvSpPr>
        <p:spPr>
          <a:xfrm>
            <a:off x="8302680" y="5083920"/>
            <a:ext cx="3117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5-Stage Live Board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8"/>
          <p:cNvSpPr/>
          <p:nvPr/>
        </p:nvSpPr>
        <p:spPr>
          <a:xfrm>
            <a:off x="11475720" y="65106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06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/>
          <p:nvPr/>
        </p:nvSpPr>
        <p:spPr>
          <a:xfrm>
            <a:off x="548640" y="3657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TECHNICAL DEEP DIVE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548640" y="64008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Supervised Machine Learning Engine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"/>
          <p:cNvSpPr/>
          <p:nvPr/>
        </p:nvSpPr>
        <p:spPr>
          <a:xfrm>
            <a:off x="548640" y="1417320"/>
            <a:ext cx="5211720" cy="4571640"/>
          </a:xfrm>
          <a:prstGeom prst="roundRect">
            <a:avLst>
              <a:gd name="adj" fmla="val 1600"/>
            </a:avLst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822960" y="160020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Random Forest Classifier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"/>
          <p:cNvSpPr/>
          <p:nvPr/>
        </p:nvSpPr>
        <p:spPr>
          <a:xfrm>
            <a:off x="822960" y="192024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100 Decision Trees • max_depth = 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5"/>
          <p:cNvSpPr/>
          <p:nvPr/>
        </p:nvSpPr>
        <p:spPr>
          <a:xfrm>
            <a:off x="3044880" y="2468880"/>
            <a:ext cx="219240" cy="21924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6"/>
          <p:cNvSpPr/>
          <p:nvPr/>
        </p:nvSpPr>
        <p:spPr>
          <a:xfrm flipV="1">
            <a:off x="2331720" y="2578320"/>
            <a:ext cx="822960" cy="484920"/>
          </a:xfrm>
          <a:prstGeom prst="line">
            <a:avLst/>
          </a:prstGeom>
          <a:ln w="15875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7"/>
          <p:cNvSpPr/>
          <p:nvPr/>
        </p:nvSpPr>
        <p:spPr>
          <a:xfrm>
            <a:off x="2240280" y="3063240"/>
            <a:ext cx="182520" cy="182520"/>
          </a:xfrm>
          <a:prstGeom prst="ellipse">
            <a:avLst/>
          </a:prstGeom>
          <a:solidFill>
            <a:srgbClr val="60A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8"/>
          <p:cNvSpPr/>
          <p:nvPr/>
        </p:nvSpPr>
        <p:spPr>
          <a:xfrm>
            <a:off x="3154680" y="2578320"/>
            <a:ext cx="822960" cy="484920"/>
          </a:xfrm>
          <a:prstGeom prst="line">
            <a:avLst/>
          </a:prstGeom>
          <a:ln w="15875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9"/>
          <p:cNvSpPr/>
          <p:nvPr/>
        </p:nvSpPr>
        <p:spPr>
          <a:xfrm>
            <a:off x="3886200" y="3063240"/>
            <a:ext cx="182520" cy="182520"/>
          </a:xfrm>
          <a:prstGeom prst="ellipse">
            <a:avLst/>
          </a:prstGeom>
          <a:solidFill>
            <a:srgbClr val="60A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0"/>
          <p:cNvSpPr/>
          <p:nvPr/>
        </p:nvSpPr>
        <p:spPr>
          <a:xfrm flipV="1">
            <a:off x="1828800" y="3246120"/>
            <a:ext cx="502920" cy="41148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1"/>
          <p:cNvSpPr/>
          <p:nvPr/>
        </p:nvSpPr>
        <p:spPr>
          <a:xfrm>
            <a:off x="1760400" y="3657600"/>
            <a:ext cx="136800" cy="1368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2"/>
          <p:cNvSpPr/>
          <p:nvPr/>
        </p:nvSpPr>
        <p:spPr>
          <a:xfrm>
            <a:off x="2331720" y="3246120"/>
            <a:ext cx="502920" cy="41148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3"/>
          <p:cNvSpPr/>
          <p:nvPr/>
        </p:nvSpPr>
        <p:spPr>
          <a:xfrm>
            <a:off x="2766240" y="3657600"/>
            <a:ext cx="136800" cy="1368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4"/>
          <p:cNvSpPr/>
          <p:nvPr/>
        </p:nvSpPr>
        <p:spPr>
          <a:xfrm flipV="1">
            <a:off x="3474720" y="3246120"/>
            <a:ext cx="502920" cy="41148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5"/>
          <p:cNvSpPr/>
          <p:nvPr/>
        </p:nvSpPr>
        <p:spPr>
          <a:xfrm>
            <a:off x="3406320" y="3657600"/>
            <a:ext cx="136800" cy="1368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6"/>
          <p:cNvSpPr/>
          <p:nvPr/>
        </p:nvSpPr>
        <p:spPr>
          <a:xfrm>
            <a:off x="3977640" y="3246120"/>
            <a:ext cx="502920" cy="41148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7"/>
          <p:cNvSpPr/>
          <p:nvPr/>
        </p:nvSpPr>
        <p:spPr>
          <a:xfrm>
            <a:off x="4412160" y="3657600"/>
            <a:ext cx="136800" cy="1368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8"/>
          <p:cNvSpPr/>
          <p:nvPr/>
        </p:nvSpPr>
        <p:spPr>
          <a:xfrm>
            <a:off x="822960" y="397764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100 parallel trees vote on a deterministic, explainable intent score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9"/>
          <p:cNvSpPr/>
          <p:nvPr/>
        </p:nvSpPr>
        <p:spPr>
          <a:xfrm>
            <a:off x="822960" y="448056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3C5FD"/>
                </a:solidFill>
                <a:effectLst/>
                <a:uFillTx/>
                <a:latin typeface="Calibri"/>
                <a:ea typeface="Calibri"/>
              </a:rPr>
              <a:t>Input Features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0"/>
          <p:cNvSpPr/>
          <p:nvPr/>
        </p:nvSpPr>
        <p:spPr>
          <a:xfrm>
            <a:off x="2606040" y="448056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10 SaaS-specific signals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1"/>
          <p:cNvSpPr/>
          <p:nvPr/>
        </p:nvSpPr>
        <p:spPr>
          <a:xfrm>
            <a:off x="822960" y="480060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3C5FD"/>
                </a:solidFill>
                <a:effectLst/>
                <a:uFillTx/>
                <a:latin typeface="Calibri"/>
                <a:ea typeface="Calibri"/>
              </a:rPr>
              <a:t>Output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2"/>
          <p:cNvSpPr/>
          <p:nvPr/>
        </p:nvSpPr>
        <p:spPr>
          <a:xfrm>
            <a:off x="2606040" y="480060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Intent score 0–100, explainable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3"/>
          <p:cNvSpPr/>
          <p:nvPr/>
        </p:nvSpPr>
        <p:spPr>
          <a:xfrm>
            <a:off x="822960" y="512064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3C5FD"/>
                </a:solidFill>
                <a:effectLst/>
                <a:uFillTx/>
                <a:latin typeface="Calibri"/>
                <a:ea typeface="Calibri"/>
              </a:rPr>
              <a:t>Accuracy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4"/>
          <p:cNvSpPr/>
          <p:nvPr/>
        </p:nvSpPr>
        <p:spPr>
          <a:xfrm>
            <a:off x="2606040" y="512064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94.2% on validation set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5"/>
          <p:cNvSpPr/>
          <p:nvPr/>
        </p:nvSpPr>
        <p:spPr>
          <a:xfrm>
            <a:off x="822960" y="544068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3C5FD"/>
                </a:solidFill>
                <a:effectLst/>
                <a:uFillTx/>
                <a:latin typeface="Calibri"/>
                <a:ea typeface="Calibri"/>
              </a:rPr>
              <a:t>Latency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6"/>
          <p:cNvSpPr/>
          <p:nvPr/>
        </p:nvSpPr>
        <p:spPr>
          <a:xfrm>
            <a:off x="2606040" y="544068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&lt; 15ms per inference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7"/>
          <p:cNvSpPr/>
          <p:nvPr/>
        </p:nvSpPr>
        <p:spPr>
          <a:xfrm>
            <a:off x="5989320" y="1417320"/>
            <a:ext cx="5577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Feature Importance Breakdown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0" name="Chart 0"/>
          <p:cNvGraphicFramePr/>
          <p:nvPr/>
        </p:nvGraphicFramePr>
        <p:xfrm>
          <a:off x="5989320" y="1828800"/>
          <a:ext cx="557748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41" name="Shape 28"/>
          <p:cNvSpPr/>
          <p:nvPr/>
        </p:nvSpPr>
        <p:spPr>
          <a:xfrm>
            <a:off x="5989320" y="4892040"/>
            <a:ext cx="5577480" cy="105120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12700">
            <a:solidFill>
              <a:srgbClr val="A7F3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9"/>
          <p:cNvSpPr/>
          <p:nvPr/>
        </p:nvSpPr>
        <p:spPr>
          <a:xfrm>
            <a:off x="6217920" y="4892040"/>
            <a:ext cx="51202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47857"/>
                </a:solidFill>
                <a:effectLst/>
                <a:uFillTx/>
                <a:latin typeface="Calibri"/>
                <a:ea typeface="Calibri"/>
              </a:rPr>
              <a:t>Supporting Algorithm:  </a:t>
            </a:r>
            <a:r>
              <a:rPr lang="en-US" sz="1050" b="0" u="none" strike="noStrike">
                <a:solidFill>
                  <a:srgbClr val="065F46"/>
                </a:solidFill>
                <a:effectLst/>
                <a:uFillTx/>
                <a:latin typeface="Calibri"/>
                <a:ea typeface="Calibri"/>
              </a:rPr>
              <a:t>TF-IDF Cosine Similarity benchmarks each lead against 60+ historical Closed-Won SaaS contracts for pricing and win-probability signals.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0"/>
          <p:cNvSpPr/>
          <p:nvPr/>
        </p:nvSpPr>
        <p:spPr>
          <a:xfrm>
            <a:off x="11475720" y="65106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07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 0"/>
          <p:cNvSpPr/>
          <p:nvPr/>
        </p:nvSpPr>
        <p:spPr>
          <a:xfrm>
            <a:off x="548640" y="3657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PRODUCT WALKTHROUGH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"/>
          <p:cNvSpPr/>
          <p:nvPr/>
        </p:nvSpPr>
        <p:spPr>
          <a:xfrm>
            <a:off x="548640" y="64008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High-Fidelity Application Interface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"/>
          <p:cNvSpPr/>
          <p:nvPr/>
        </p:nvSpPr>
        <p:spPr>
          <a:xfrm>
            <a:off x="548640" y="1508760"/>
            <a:ext cx="534888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3"/>
          <p:cNvSpPr/>
          <p:nvPr/>
        </p:nvSpPr>
        <p:spPr>
          <a:xfrm>
            <a:off x="685800" y="1645920"/>
            <a:ext cx="5074560" cy="1416960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4"/>
          <p:cNvSpPr/>
          <p:nvPr/>
        </p:nvSpPr>
        <p:spPr>
          <a:xfrm>
            <a:off x="822960" y="1755720"/>
            <a:ext cx="109440" cy="109440"/>
          </a:xfrm>
          <a:prstGeom prst="ellipse">
            <a:avLst/>
          </a:prstGeom>
          <a:solidFill>
            <a:srgbClr val="FCA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5"/>
          <p:cNvSpPr/>
          <p:nvPr/>
        </p:nvSpPr>
        <p:spPr>
          <a:xfrm>
            <a:off x="1024200" y="1755720"/>
            <a:ext cx="109440" cy="109440"/>
          </a:xfrm>
          <a:prstGeom prst="ellipse">
            <a:avLst/>
          </a:prstGeom>
          <a:solidFill>
            <a:srgbClr val="FDE6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6"/>
          <p:cNvSpPr/>
          <p:nvPr/>
        </p:nvSpPr>
        <p:spPr>
          <a:xfrm>
            <a:off x="1225440" y="1755720"/>
            <a:ext cx="109440" cy="109440"/>
          </a:xfrm>
          <a:prstGeom prst="ellipse">
            <a:avLst/>
          </a:prstGeom>
          <a:solidFill>
            <a:srgbClr val="86EF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7"/>
          <p:cNvSpPr/>
          <p:nvPr/>
        </p:nvSpPr>
        <p:spPr>
          <a:xfrm>
            <a:off x="685800" y="1965960"/>
            <a:ext cx="5074560" cy="1096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8"/>
          <p:cNvSpPr/>
          <p:nvPr/>
        </p:nvSpPr>
        <p:spPr>
          <a:xfrm>
            <a:off x="914400" y="2651760"/>
            <a:ext cx="365400" cy="3654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9"/>
          <p:cNvSpPr/>
          <p:nvPr/>
        </p:nvSpPr>
        <p:spPr>
          <a:xfrm>
            <a:off x="1554480" y="2423160"/>
            <a:ext cx="365400" cy="594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0"/>
          <p:cNvSpPr/>
          <p:nvPr/>
        </p:nvSpPr>
        <p:spPr>
          <a:xfrm>
            <a:off x="2194560" y="2560320"/>
            <a:ext cx="365400" cy="45684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1"/>
          <p:cNvSpPr/>
          <p:nvPr/>
        </p:nvSpPr>
        <p:spPr>
          <a:xfrm>
            <a:off x="2834640" y="2286000"/>
            <a:ext cx="365400" cy="7311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2"/>
          <p:cNvSpPr/>
          <p:nvPr/>
        </p:nvSpPr>
        <p:spPr>
          <a:xfrm>
            <a:off x="3474720" y="2743200"/>
            <a:ext cx="365400" cy="2739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3"/>
          <p:cNvSpPr/>
          <p:nvPr/>
        </p:nvSpPr>
        <p:spPr>
          <a:xfrm>
            <a:off x="4114800" y="2468880"/>
            <a:ext cx="365400" cy="5482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4"/>
          <p:cNvSpPr/>
          <p:nvPr/>
        </p:nvSpPr>
        <p:spPr>
          <a:xfrm>
            <a:off x="749880" y="3173040"/>
            <a:ext cx="4946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Executive KPI Dashboard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5"/>
          <p:cNvSpPr/>
          <p:nvPr/>
        </p:nvSpPr>
        <p:spPr>
          <a:xfrm>
            <a:off x="749880" y="3474720"/>
            <a:ext cx="4946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$1.86M Pipeline ARR • Win Rate 68.4% • AI follow-up urgency alerts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6"/>
          <p:cNvSpPr/>
          <p:nvPr/>
        </p:nvSpPr>
        <p:spPr>
          <a:xfrm>
            <a:off x="6217920" y="1508760"/>
            <a:ext cx="534888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7"/>
          <p:cNvSpPr/>
          <p:nvPr/>
        </p:nvSpPr>
        <p:spPr>
          <a:xfrm>
            <a:off x="6355080" y="1645920"/>
            <a:ext cx="5074560" cy="1416960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8"/>
          <p:cNvSpPr/>
          <p:nvPr/>
        </p:nvSpPr>
        <p:spPr>
          <a:xfrm>
            <a:off x="6492240" y="1755720"/>
            <a:ext cx="109440" cy="109440"/>
          </a:xfrm>
          <a:prstGeom prst="ellipse">
            <a:avLst/>
          </a:prstGeom>
          <a:solidFill>
            <a:srgbClr val="FCA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9"/>
          <p:cNvSpPr/>
          <p:nvPr/>
        </p:nvSpPr>
        <p:spPr>
          <a:xfrm>
            <a:off x="6693480" y="1755720"/>
            <a:ext cx="109440" cy="109440"/>
          </a:xfrm>
          <a:prstGeom prst="ellipse">
            <a:avLst/>
          </a:prstGeom>
          <a:solidFill>
            <a:srgbClr val="FDE6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0"/>
          <p:cNvSpPr/>
          <p:nvPr/>
        </p:nvSpPr>
        <p:spPr>
          <a:xfrm>
            <a:off x="6894720" y="1755720"/>
            <a:ext cx="109440" cy="109440"/>
          </a:xfrm>
          <a:prstGeom prst="ellipse">
            <a:avLst/>
          </a:prstGeom>
          <a:solidFill>
            <a:srgbClr val="86EF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21"/>
          <p:cNvSpPr/>
          <p:nvPr/>
        </p:nvSpPr>
        <p:spPr>
          <a:xfrm>
            <a:off x="6355080" y="1965960"/>
            <a:ext cx="5074560" cy="1096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2"/>
          <p:cNvSpPr/>
          <p:nvPr/>
        </p:nvSpPr>
        <p:spPr>
          <a:xfrm>
            <a:off x="6583680" y="2651760"/>
            <a:ext cx="365400" cy="3654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23"/>
          <p:cNvSpPr/>
          <p:nvPr/>
        </p:nvSpPr>
        <p:spPr>
          <a:xfrm>
            <a:off x="7223760" y="2423160"/>
            <a:ext cx="365400" cy="594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4"/>
          <p:cNvSpPr/>
          <p:nvPr/>
        </p:nvSpPr>
        <p:spPr>
          <a:xfrm>
            <a:off x="7863840" y="2560320"/>
            <a:ext cx="365400" cy="4568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5"/>
          <p:cNvSpPr/>
          <p:nvPr/>
        </p:nvSpPr>
        <p:spPr>
          <a:xfrm>
            <a:off x="8503920" y="2286000"/>
            <a:ext cx="365400" cy="7311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26"/>
          <p:cNvSpPr/>
          <p:nvPr/>
        </p:nvSpPr>
        <p:spPr>
          <a:xfrm>
            <a:off x="9144000" y="2743200"/>
            <a:ext cx="365400" cy="273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7"/>
          <p:cNvSpPr/>
          <p:nvPr/>
        </p:nvSpPr>
        <p:spPr>
          <a:xfrm>
            <a:off x="9784080" y="2468880"/>
            <a:ext cx="365400" cy="54828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8"/>
          <p:cNvSpPr/>
          <p:nvPr/>
        </p:nvSpPr>
        <p:spPr>
          <a:xfrm>
            <a:off x="6419160" y="3173040"/>
            <a:ext cx="4946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ML Lead Intelligence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9"/>
          <p:cNvSpPr/>
          <p:nvPr/>
        </p:nvSpPr>
        <p:spPr>
          <a:xfrm>
            <a:off x="6419160" y="3474720"/>
            <a:ext cx="4946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Random Forest Intent Score 92.4% + TF-IDF similar Closed contracts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30"/>
          <p:cNvSpPr/>
          <p:nvPr/>
        </p:nvSpPr>
        <p:spPr>
          <a:xfrm>
            <a:off x="548640" y="4114800"/>
            <a:ext cx="534888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31"/>
          <p:cNvSpPr/>
          <p:nvPr/>
        </p:nvSpPr>
        <p:spPr>
          <a:xfrm>
            <a:off x="685800" y="4251960"/>
            <a:ext cx="5074560" cy="1416960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32"/>
          <p:cNvSpPr/>
          <p:nvPr/>
        </p:nvSpPr>
        <p:spPr>
          <a:xfrm>
            <a:off x="822960" y="4361760"/>
            <a:ext cx="109440" cy="109440"/>
          </a:xfrm>
          <a:prstGeom prst="ellipse">
            <a:avLst/>
          </a:prstGeom>
          <a:solidFill>
            <a:srgbClr val="FCA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33"/>
          <p:cNvSpPr/>
          <p:nvPr/>
        </p:nvSpPr>
        <p:spPr>
          <a:xfrm>
            <a:off x="1024200" y="4361760"/>
            <a:ext cx="109440" cy="109440"/>
          </a:xfrm>
          <a:prstGeom prst="ellipse">
            <a:avLst/>
          </a:prstGeom>
          <a:solidFill>
            <a:srgbClr val="FDE6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34"/>
          <p:cNvSpPr/>
          <p:nvPr/>
        </p:nvSpPr>
        <p:spPr>
          <a:xfrm>
            <a:off x="1225440" y="4361760"/>
            <a:ext cx="109440" cy="109440"/>
          </a:xfrm>
          <a:prstGeom prst="ellipse">
            <a:avLst/>
          </a:prstGeom>
          <a:solidFill>
            <a:srgbClr val="86EF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35"/>
          <p:cNvSpPr/>
          <p:nvPr/>
        </p:nvSpPr>
        <p:spPr>
          <a:xfrm>
            <a:off x="685800" y="4572000"/>
            <a:ext cx="5074560" cy="1096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36"/>
          <p:cNvSpPr/>
          <p:nvPr/>
        </p:nvSpPr>
        <p:spPr>
          <a:xfrm>
            <a:off x="914400" y="5257800"/>
            <a:ext cx="365400" cy="3654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37"/>
          <p:cNvSpPr/>
          <p:nvPr/>
        </p:nvSpPr>
        <p:spPr>
          <a:xfrm>
            <a:off x="1554480" y="5029200"/>
            <a:ext cx="365400" cy="5940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38"/>
          <p:cNvSpPr/>
          <p:nvPr/>
        </p:nvSpPr>
        <p:spPr>
          <a:xfrm>
            <a:off x="2194560" y="5166360"/>
            <a:ext cx="365400" cy="4568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39"/>
          <p:cNvSpPr/>
          <p:nvPr/>
        </p:nvSpPr>
        <p:spPr>
          <a:xfrm>
            <a:off x="2834640" y="4892040"/>
            <a:ext cx="365400" cy="73116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40"/>
          <p:cNvSpPr/>
          <p:nvPr/>
        </p:nvSpPr>
        <p:spPr>
          <a:xfrm>
            <a:off x="3474720" y="5349240"/>
            <a:ext cx="365400" cy="27396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41"/>
          <p:cNvSpPr/>
          <p:nvPr/>
        </p:nvSpPr>
        <p:spPr>
          <a:xfrm>
            <a:off x="4114800" y="5074920"/>
            <a:ext cx="365400" cy="5482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2"/>
          <p:cNvSpPr/>
          <p:nvPr/>
        </p:nvSpPr>
        <p:spPr>
          <a:xfrm>
            <a:off x="749880" y="5779080"/>
            <a:ext cx="4946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AI Outreach Generator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43"/>
          <p:cNvSpPr/>
          <p:nvPr/>
        </p:nvSpPr>
        <p:spPr>
          <a:xfrm>
            <a:off x="749880" y="6080760"/>
            <a:ext cx="4946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NVIDIA NIM Llama 3.1 70B: cold email, 48h cadence, LinkedIn InMail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44"/>
          <p:cNvSpPr/>
          <p:nvPr/>
        </p:nvSpPr>
        <p:spPr>
          <a:xfrm>
            <a:off x="6217920" y="4114800"/>
            <a:ext cx="534888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94A3B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45"/>
          <p:cNvSpPr/>
          <p:nvPr/>
        </p:nvSpPr>
        <p:spPr>
          <a:xfrm>
            <a:off x="6355080" y="4251960"/>
            <a:ext cx="5074560" cy="1416960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46"/>
          <p:cNvSpPr/>
          <p:nvPr/>
        </p:nvSpPr>
        <p:spPr>
          <a:xfrm>
            <a:off x="6492240" y="4361760"/>
            <a:ext cx="109440" cy="109440"/>
          </a:xfrm>
          <a:prstGeom prst="ellipse">
            <a:avLst/>
          </a:prstGeom>
          <a:solidFill>
            <a:srgbClr val="FCA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47"/>
          <p:cNvSpPr/>
          <p:nvPr/>
        </p:nvSpPr>
        <p:spPr>
          <a:xfrm>
            <a:off x="6693480" y="4361760"/>
            <a:ext cx="109440" cy="109440"/>
          </a:xfrm>
          <a:prstGeom prst="ellipse">
            <a:avLst/>
          </a:prstGeom>
          <a:solidFill>
            <a:srgbClr val="FDE6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48"/>
          <p:cNvSpPr/>
          <p:nvPr/>
        </p:nvSpPr>
        <p:spPr>
          <a:xfrm>
            <a:off x="6894720" y="4361760"/>
            <a:ext cx="109440" cy="109440"/>
          </a:xfrm>
          <a:prstGeom prst="ellipse">
            <a:avLst/>
          </a:prstGeom>
          <a:solidFill>
            <a:srgbClr val="86EF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49"/>
          <p:cNvSpPr/>
          <p:nvPr/>
        </p:nvSpPr>
        <p:spPr>
          <a:xfrm>
            <a:off x="6355080" y="4572000"/>
            <a:ext cx="5074560" cy="1096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50"/>
          <p:cNvSpPr/>
          <p:nvPr/>
        </p:nvSpPr>
        <p:spPr>
          <a:xfrm>
            <a:off x="6583680" y="5257800"/>
            <a:ext cx="365400" cy="3654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51"/>
          <p:cNvSpPr/>
          <p:nvPr/>
        </p:nvSpPr>
        <p:spPr>
          <a:xfrm>
            <a:off x="7223760" y="5029200"/>
            <a:ext cx="365400" cy="594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52"/>
          <p:cNvSpPr/>
          <p:nvPr/>
        </p:nvSpPr>
        <p:spPr>
          <a:xfrm>
            <a:off x="7863840" y="5166360"/>
            <a:ext cx="365400" cy="4568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53"/>
          <p:cNvSpPr/>
          <p:nvPr/>
        </p:nvSpPr>
        <p:spPr>
          <a:xfrm>
            <a:off x="8503920" y="4892040"/>
            <a:ext cx="365400" cy="7311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54"/>
          <p:cNvSpPr/>
          <p:nvPr/>
        </p:nvSpPr>
        <p:spPr>
          <a:xfrm>
            <a:off x="9144000" y="5349240"/>
            <a:ext cx="365400" cy="2739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55"/>
          <p:cNvSpPr/>
          <p:nvPr/>
        </p:nvSpPr>
        <p:spPr>
          <a:xfrm>
            <a:off x="9784080" y="5074920"/>
            <a:ext cx="365400" cy="5482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56"/>
          <p:cNvSpPr/>
          <p:nvPr/>
        </p:nvSpPr>
        <p:spPr>
          <a:xfrm>
            <a:off x="6419160" y="5779080"/>
            <a:ext cx="4946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5-Stage Kanban Pipeline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57"/>
          <p:cNvSpPr/>
          <p:nvPr/>
        </p:nvSpPr>
        <p:spPr>
          <a:xfrm>
            <a:off x="6419160" y="6080760"/>
            <a:ext cx="4946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Drag-and-drop deal management with real-time ARR weighting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58"/>
          <p:cNvSpPr/>
          <p:nvPr/>
        </p:nvSpPr>
        <p:spPr>
          <a:xfrm>
            <a:off x="11475720" y="65106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08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3" name=""/>
          <p:cNvPicPr/>
          <p:nvPr/>
        </p:nvPicPr>
        <p:blipFill>
          <a:blip r:embed="rId1"/>
          <a:srcRect l="0" t="0" r="906" b="45146"/>
          <a:stretch/>
        </p:blipFill>
        <p:spPr>
          <a:xfrm>
            <a:off x="649800" y="1600200"/>
            <a:ext cx="5221080" cy="162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4" name=""/>
          <p:cNvPicPr/>
          <p:nvPr/>
        </p:nvPicPr>
        <p:blipFill>
          <a:blip r:embed="rId2"/>
          <a:srcRect l="0" t="0" r="2619" b="45787"/>
          <a:stretch/>
        </p:blipFill>
        <p:spPr>
          <a:xfrm>
            <a:off x="6319080" y="1600200"/>
            <a:ext cx="5110200" cy="159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5" name=""/>
          <p:cNvPicPr/>
          <p:nvPr/>
        </p:nvPicPr>
        <p:blipFill>
          <a:blip r:embed="rId3"/>
          <a:srcRect l="0" t="0" r="0" b="47074"/>
          <a:stretch/>
        </p:blipFill>
        <p:spPr>
          <a:xfrm>
            <a:off x="650160" y="4178520"/>
            <a:ext cx="5162400" cy="153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6" name=""/>
          <p:cNvPicPr/>
          <p:nvPr/>
        </p:nvPicPr>
        <p:blipFill>
          <a:blip r:embed="rId4"/>
          <a:srcRect l="0" t="0" r="0" b="48915"/>
          <a:stretch/>
        </p:blipFill>
        <p:spPr>
          <a:xfrm>
            <a:off x="6247440" y="4150800"/>
            <a:ext cx="5283360" cy="1517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 0"/>
          <p:cNvSpPr/>
          <p:nvPr/>
        </p:nvSpPr>
        <p:spPr>
          <a:xfrm>
            <a:off x="548640" y="3657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ENGINEERING RETROSPECTIVE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548640" y="64008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Strengths &amp; Engineering Challenges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"/>
          <p:cNvSpPr/>
          <p:nvPr/>
        </p:nvSpPr>
        <p:spPr>
          <a:xfrm>
            <a:off x="548640" y="1463040"/>
            <a:ext cx="5348880" cy="4617360"/>
          </a:xfrm>
          <a:prstGeom prst="roundRect">
            <a:avLst>
              <a:gd name="adj" fmla="val 1584"/>
            </a:avLst>
          </a:prstGeom>
          <a:solidFill>
            <a:srgbClr val="F0FDF4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3"/>
          <p:cNvSpPr/>
          <p:nvPr/>
        </p:nvSpPr>
        <p:spPr>
          <a:xfrm>
            <a:off x="822960" y="169164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47857"/>
                </a:solidFill>
                <a:effectLst/>
                <a:uFillTx/>
                <a:latin typeface="Calibri"/>
                <a:ea typeface="Calibri"/>
              </a:rPr>
              <a:t>✓  Key Advantages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4"/>
          <p:cNvSpPr/>
          <p:nvPr/>
        </p:nvSpPr>
        <p:spPr>
          <a:xfrm>
            <a:off x="822960" y="2258640"/>
            <a:ext cx="219240" cy="21924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5"/>
          <p:cNvSpPr/>
          <p:nvPr/>
        </p:nvSpPr>
        <p:spPr>
          <a:xfrm>
            <a:off x="822960" y="225864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6"/>
          <p:cNvSpPr/>
          <p:nvPr/>
        </p:nvSpPr>
        <p:spPr>
          <a:xfrm>
            <a:off x="1170360" y="218556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4532D"/>
                </a:solidFill>
                <a:effectLst/>
                <a:uFillTx/>
                <a:latin typeface="Calibri"/>
                <a:ea typeface="Calibri"/>
              </a:rPr>
              <a:t>Zero cloud ML cost — sub-15ms local inference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7"/>
          <p:cNvSpPr/>
          <p:nvPr/>
        </p:nvSpPr>
        <p:spPr>
          <a:xfrm>
            <a:off x="822960" y="2944440"/>
            <a:ext cx="219240" cy="21924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8"/>
          <p:cNvSpPr/>
          <p:nvPr/>
        </p:nvSpPr>
        <p:spPr>
          <a:xfrm>
            <a:off x="822960" y="294444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9"/>
          <p:cNvSpPr/>
          <p:nvPr/>
        </p:nvSpPr>
        <p:spPr>
          <a:xfrm>
            <a:off x="1170360" y="287136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4532D"/>
                </a:solidFill>
                <a:effectLst/>
                <a:uFillTx/>
                <a:latin typeface="Calibri"/>
                <a:ea typeface="Calibri"/>
              </a:rPr>
              <a:t>Full-stack integration, audio to outreach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0"/>
          <p:cNvSpPr/>
          <p:nvPr/>
        </p:nvSpPr>
        <p:spPr>
          <a:xfrm>
            <a:off x="822960" y="3630240"/>
            <a:ext cx="219240" cy="21924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1"/>
          <p:cNvSpPr/>
          <p:nvPr/>
        </p:nvSpPr>
        <p:spPr>
          <a:xfrm>
            <a:off x="822960" y="363024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2"/>
          <p:cNvSpPr/>
          <p:nvPr/>
        </p:nvSpPr>
        <p:spPr>
          <a:xfrm>
            <a:off x="1170360" y="355716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4532D"/>
                </a:solidFill>
                <a:effectLst/>
                <a:uFillTx/>
                <a:latin typeface="Calibri"/>
                <a:ea typeface="Calibri"/>
              </a:rPr>
              <a:t>100% deterministic ML — no hallucination risk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3"/>
          <p:cNvSpPr/>
          <p:nvPr/>
        </p:nvSpPr>
        <p:spPr>
          <a:xfrm>
            <a:off x="822960" y="4316040"/>
            <a:ext cx="219240" cy="21924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4"/>
          <p:cNvSpPr/>
          <p:nvPr/>
        </p:nvSpPr>
        <p:spPr>
          <a:xfrm>
            <a:off x="822960" y="431604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5"/>
          <p:cNvSpPr/>
          <p:nvPr/>
        </p:nvSpPr>
        <p:spPr>
          <a:xfrm>
            <a:off x="1170360" y="424296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4532D"/>
                </a:solidFill>
                <a:effectLst/>
                <a:uFillTx/>
                <a:latin typeface="Calibri"/>
                <a:ea typeface="Calibri"/>
              </a:rPr>
              <a:t>Privacy-first — zero external data retention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6"/>
          <p:cNvSpPr/>
          <p:nvPr/>
        </p:nvSpPr>
        <p:spPr>
          <a:xfrm>
            <a:off x="822960" y="5001840"/>
            <a:ext cx="219240" cy="21924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7"/>
          <p:cNvSpPr/>
          <p:nvPr/>
        </p:nvSpPr>
        <p:spPr>
          <a:xfrm>
            <a:off x="822960" y="500184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8"/>
          <p:cNvSpPr/>
          <p:nvPr/>
        </p:nvSpPr>
        <p:spPr>
          <a:xfrm>
            <a:off x="1170360" y="492876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4532D"/>
                </a:solidFill>
                <a:effectLst/>
                <a:uFillTx/>
                <a:latin typeface="Calibri"/>
                <a:ea typeface="Calibri"/>
              </a:rPr>
              <a:t>22/22 Pytest coverage, enterprise reliability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9"/>
          <p:cNvSpPr/>
          <p:nvPr/>
        </p:nvSpPr>
        <p:spPr>
          <a:xfrm>
            <a:off x="6263640" y="1463040"/>
            <a:ext cx="5348880" cy="4617360"/>
          </a:xfrm>
          <a:prstGeom prst="roundRect">
            <a:avLst>
              <a:gd name="adj" fmla="val 1584"/>
            </a:avLst>
          </a:prstGeom>
          <a:solidFill>
            <a:srgbClr val="FFFBEB"/>
          </a:solidFill>
          <a:ln w="12700">
            <a:solidFill>
              <a:srgbClr val="FDE6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0"/>
          <p:cNvSpPr/>
          <p:nvPr/>
        </p:nvSpPr>
        <p:spPr>
          <a:xfrm>
            <a:off x="6537960" y="169164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⚠  Engineering Challenges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21"/>
          <p:cNvSpPr/>
          <p:nvPr/>
        </p:nvSpPr>
        <p:spPr>
          <a:xfrm>
            <a:off x="6537960" y="2304360"/>
            <a:ext cx="219240" cy="2192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2"/>
          <p:cNvSpPr/>
          <p:nvPr/>
        </p:nvSpPr>
        <p:spPr>
          <a:xfrm>
            <a:off x="6537960" y="23043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!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3"/>
          <p:cNvSpPr/>
          <p:nvPr/>
        </p:nvSpPr>
        <p:spPr>
          <a:xfrm>
            <a:off x="6885360" y="2212920"/>
            <a:ext cx="4434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78350F"/>
                </a:solidFill>
                <a:effectLst/>
                <a:uFillTx/>
                <a:latin typeface="Calibri"/>
                <a:ea typeface="Calibri"/>
              </a:rPr>
              <a:t>NVIDIA NIM API rate limits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4"/>
          <p:cNvSpPr/>
          <p:nvPr/>
        </p:nvSpPr>
        <p:spPr>
          <a:xfrm>
            <a:off x="6885360" y="252360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2400E"/>
                </a:solidFill>
                <a:effectLst/>
                <a:uFillTx/>
                <a:latin typeface="Calibri"/>
                <a:ea typeface="Calibri"/>
              </a:rPr>
              <a:t>Built async resilient fallback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25"/>
          <p:cNvSpPr/>
          <p:nvPr/>
        </p:nvSpPr>
        <p:spPr>
          <a:xfrm>
            <a:off x="6537960" y="3200400"/>
            <a:ext cx="219240" cy="2192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6"/>
          <p:cNvSpPr/>
          <p:nvPr/>
        </p:nvSpPr>
        <p:spPr>
          <a:xfrm>
            <a:off x="6537960" y="320040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!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7"/>
          <p:cNvSpPr/>
          <p:nvPr/>
        </p:nvSpPr>
        <p:spPr>
          <a:xfrm>
            <a:off x="6885360" y="3108960"/>
            <a:ext cx="4434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78350F"/>
                </a:solidFill>
                <a:effectLst/>
                <a:uFillTx/>
                <a:latin typeface="Calibri"/>
                <a:ea typeface="Calibri"/>
              </a:rPr>
              <a:t>SQLite write concurrency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8"/>
          <p:cNvSpPr/>
          <p:nvPr/>
        </p:nvSpPr>
        <p:spPr>
          <a:xfrm>
            <a:off x="6885360" y="342000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2400E"/>
                </a:solidFill>
                <a:effectLst/>
                <a:uFillTx/>
                <a:latin typeface="Calibri"/>
                <a:ea typeface="Calibri"/>
              </a:rPr>
              <a:t>Solved with WAL mode + retry logic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9"/>
          <p:cNvSpPr/>
          <p:nvPr/>
        </p:nvSpPr>
        <p:spPr>
          <a:xfrm>
            <a:off x="6537960" y="4096440"/>
            <a:ext cx="219240" cy="2192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0"/>
          <p:cNvSpPr/>
          <p:nvPr/>
        </p:nvSpPr>
        <p:spPr>
          <a:xfrm>
            <a:off x="6537960" y="409644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!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1"/>
          <p:cNvSpPr/>
          <p:nvPr/>
        </p:nvSpPr>
        <p:spPr>
          <a:xfrm>
            <a:off x="6885360" y="4005000"/>
            <a:ext cx="4434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78350F"/>
                </a:solidFill>
                <a:effectLst/>
                <a:uFillTx/>
                <a:latin typeface="Calibri"/>
                <a:ea typeface="Calibri"/>
              </a:rPr>
              <a:t>Audio transcription accuracy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32"/>
          <p:cNvSpPr/>
          <p:nvPr/>
        </p:nvSpPr>
        <p:spPr>
          <a:xfrm>
            <a:off x="6885360" y="431604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2400E"/>
                </a:solidFill>
                <a:effectLst/>
                <a:uFillTx/>
                <a:latin typeface="Calibri"/>
                <a:ea typeface="Calibri"/>
              </a:rPr>
              <a:t>Tuned SpeechRecognition engine settings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33"/>
          <p:cNvSpPr/>
          <p:nvPr/>
        </p:nvSpPr>
        <p:spPr>
          <a:xfrm>
            <a:off x="6537960" y="4992480"/>
            <a:ext cx="219240" cy="2192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4"/>
          <p:cNvSpPr/>
          <p:nvPr/>
        </p:nvSpPr>
        <p:spPr>
          <a:xfrm>
            <a:off x="6537960" y="499248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!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5"/>
          <p:cNvSpPr/>
          <p:nvPr/>
        </p:nvSpPr>
        <p:spPr>
          <a:xfrm>
            <a:off x="6885360" y="4901040"/>
            <a:ext cx="4434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78350F"/>
                </a:solidFill>
                <a:effectLst/>
                <a:uFillTx/>
                <a:latin typeface="Calibri"/>
                <a:ea typeface="Calibri"/>
              </a:rPr>
              <a:t>JWT security in stateless FastAPI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36"/>
          <p:cNvSpPr/>
          <p:nvPr/>
        </p:nvSpPr>
        <p:spPr>
          <a:xfrm>
            <a:off x="6885360" y="521208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2400E"/>
                </a:solidFill>
                <a:effectLst/>
                <a:uFillTx/>
                <a:latin typeface="Calibri"/>
                <a:ea typeface="Calibri"/>
              </a:rPr>
              <a:t>Custom PBKDF2 middleware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37"/>
          <p:cNvSpPr/>
          <p:nvPr/>
        </p:nvSpPr>
        <p:spPr>
          <a:xfrm>
            <a:off x="11475720" y="65106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09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 0"/>
          <p:cNvSpPr/>
          <p:nvPr/>
        </p:nvSpPr>
        <p:spPr>
          <a:xfrm>
            <a:off x="548640" y="3657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93C5FD"/>
                </a:solidFill>
                <a:effectLst/>
                <a:uFillTx/>
                <a:latin typeface="Calibri"/>
                <a:ea typeface="Calibri"/>
              </a:rPr>
              <a:t>BUSINESS VALUE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"/>
          <p:cNvSpPr/>
          <p:nvPr/>
        </p:nvSpPr>
        <p:spPr>
          <a:xfrm>
            <a:off x="548640" y="64008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Quantified B2B SaaS Business Impact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2"/>
          <p:cNvSpPr/>
          <p:nvPr/>
        </p:nvSpPr>
        <p:spPr>
          <a:xfrm>
            <a:off x="548640" y="1600200"/>
            <a:ext cx="2486880" cy="4480200"/>
          </a:xfrm>
          <a:prstGeom prst="roundRect">
            <a:avLst>
              <a:gd name="adj" fmla="val 3309"/>
            </a:avLst>
          </a:prstGeom>
          <a:solidFill>
            <a:srgbClr val="16213A"/>
          </a:solidFill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3"/>
          <p:cNvSpPr/>
          <p:nvPr/>
        </p:nvSpPr>
        <p:spPr>
          <a:xfrm>
            <a:off x="868680" y="1920240"/>
            <a:ext cx="548280" cy="54828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4"/>
          <p:cNvSpPr/>
          <p:nvPr/>
        </p:nvSpPr>
        <p:spPr>
          <a:xfrm>
            <a:off x="868680" y="1920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▶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5"/>
          <p:cNvSpPr/>
          <p:nvPr/>
        </p:nvSpPr>
        <p:spPr>
          <a:xfrm>
            <a:off x="777240" y="2651760"/>
            <a:ext cx="2029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37.8%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6"/>
          <p:cNvSpPr/>
          <p:nvPr/>
        </p:nvSpPr>
        <p:spPr>
          <a:xfrm>
            <a:off x="777240" y="3383280"/>
            <a:ext cx="202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For SDRs / AEs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7"/>
          <p:cNvSpPr/>
          <p:nvPr/>
        </p:nvSpPr>
        <p:spPr>
          <a:xfrm>
            <a:off x="777240" y="3794760"/>
            <a:ext cx="20296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Faster deal cycle (45d → 28d) and 3.2× outreach conversion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8"/>
          <p:cNvSpPr/>
          <p:nvPr/>
        </p:nvSpPr>
        <p:spPr>
          <a:xfrm>
            <a:off x="3291840" y="1600200"/>
            <a:ext cx="2486880" cy="4480200"/>
          </a:xfrm>
          <a:prstGeom prst="roundRect">
            <a:avLst>
              <a:gd name="adj" fmla="val 3309"/>
            </a:avLst>
          </a:prstGeom>
          <a:solidFill>
            <a:srgbClr val="16213A"/>
          </a:solidFill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9"/>
          <p:cNvSpPr/>
          <p:nvPr/>
        </p:nvSpPr>
        <p:spPr>
          <a:xfrm>
            <a:off x="3611880" y="1920240"/>
            <a:ext cx="548280" cy="54828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0"/>
          <p:cNvSpPr/>
          <p:nvPr/>
        </p:nvSpPr>
        <p:spPr>
          <a:xfrm>
            <a:off x="3611880" y="1920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◈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1"/>
          <p:cNvSpPr/>
          <p:nvPr/>
        </p:nvSpPr>
        <p:spPr>
          <a:xfrm>
            <a:off x="3520440" y="2651760"/>
            <a:ext cx="2029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$1.86M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2"/>
          <p:cNvSpPr/>
          <p:nvPr/>
        </p:nvSpPr>
        <p:spPr>
          <a:xfrm>
            <a:off x="3520440" y="3383280"/>
            <a:ext cx="202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For RevOps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3"/>
          <p:cNvSpPr/>
          <p:nvPr/>
        </p:nvSpPr>
        <p:spPr>
          <a:xfrm>
            <a:off x="3520440" y="3794760"/>
            <a:ext cx="20296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Real-time pipeline visibility with automated lead prioritization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4"/>
          <p:cNvSpPr/>
          <p:nvPr/>
        </p:nvSpPr>
        <p:spPr>
          <a:xfrm>
            <a:off x="6035040" y="1600200"/>
            <a:ext cx="2486880" cy="4480200"/>
          </a:xfrm>
          <a:prstGeom prst="roundRect">
            <a:avLst>
              <a:gd name="adj" fmla="val 3309"/>
            </a:avLst>
          </a:prstGeom>
          <a:solidFill>
            <a:srgbClr val="16213A"/>
          </a:solidFill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5"/>
          <p:cNvSpPr/>
          <p:nvPr/>
        </p:nvSpPr>
        <p:spPr>
          <a:xfrm>
            <a:off x="6355080" y="1920240"/>
            <a:ext cx="548280" cy="54828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6"/>
          <p:cNvSpPr/>
          <p:nvPr/>
        </p:nvSpPr>
        <p:spPr>
          <a:xfrm>
            <a:off x="6355080" y="1920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◉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7"/>
          <p:cNvSpPr/>
          <p:nvPr/>
        </p:nvSpPr>
        <p:spPr>
          <a:xfrm>
            <a:off x="6263640" y="2651760"/>
            <a:ext cx="2029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94.2%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8"/>
          <p:cNvSpPr/>
          <p:nvPr/>
        </p:nvSpPr>
        <p:spPr>
          <a:xfrm>
            <a:off x="6263640" y="3383280"/>
            <a:ext cx="202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For CROs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9"/>
          <p:cNvSpPr/>
          <p:nvPr/>
        </p:nvSpPr>
        <p:spPr>
          <a:xfrm>
            <a:off x="6263640" y="3794760"/>
            <a:ext cx="20296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ML scoring accuracy with instant deal-stall alerts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20"/>
          <p:cNvSpPr/>
          <p:nvPr/>
        </p:nvSpPr>
        <p:spPr>
          <a:xfrm>
            <a:off x="8778240" y="1600200"/>
            <a:ext cx="2486880" cy="4480200"/>
          </a:xfrm>
          <a:prstGeom prst="roundRect">
            <a:avLst>
              <a:gd name="adj" fmla="val 3309"/>
            </a:avLst>
          </a:prstGeom>
          <a:solidFill>
            <a:srgbClr val="16213A"/>
          </a:solidFill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21"/>
          <p:cNvSpPr/>
          <p:nvPr/>
        </p:nvSpPr>
        <p:spPr>
          <a:xfrm>
            <a:off x="9098280" y="1920240"/>
            <a:ext cx="548280" cy="54828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22"/>
          <p:cNvSpPr/>
          <p:nvPr/>
        </p:nvSpPr>
        <p:spPr>
          <a:xfrm>
            <a:off x="9098280" y="1920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⚭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3"/>
          <p:cNvSpPr/>
          <p:nvPr/>
        </p:nvSpPr>
        <p:spPr>
          <a:xfrm>
            <a:off x="9006840" y="2651760"/>
            <a:ext cx="2029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22/22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24"/>
          <p:cNvSpPr/>
          <p:nvPr/>
        </p:nvSpPr>
        <p:spPr>
          <a:xfrm>
            <a:off x="9006840" y="3383280"/>
            <a:ext cx="202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For Engineering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5"/>
          <p:cNvSpPr/>
          <p:nvPr/>
        </p:nvSpPr>
        <p:spPr>
          <a:xfrm>
            <a:off x="9006840" y="3794760"/>
            <a:ext cx="20296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Tests passing, zero cloud lock-in, sub-15ms latency at scale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6"/>
          <p:cNvSpPr/>
          <p:nvPr/>
        </p:nvSpPr>
        <p:spPr>
          <a:xfrm>
            <a:off x="11475720" y="65106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 / 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 0"/>
          <p:cNvSpPr/>
          <p:nvPr/>
        </p:nvSpPr>
        <p:spPr>
          <a:xfrm>
            <a:off x="548640" y="3657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DELIVERY SUMMARY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"/>
          <p:cNvSpPr/>
          <p:nvPr/>
        </p:nvSpPr>
        <p:spPr>
          <a:xfrm>
            <a:off x="548640" y="64008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Project Delivery Summary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2"/>
          <p:cNvSpPr/>
          <p:nvPr/>
        </p:nvSpPr>
        <p:spPr>
          <a:xfrm>
            <a:off x="548640" y="1508760"/>
            <a:ext cx="5348880" cy="68544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63360" dir="5400000" dist="25560" kx="0" ky="0" rotWithShape="0" sx="100000" sy="100000">
              <a:srgbClr val="94A3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3"/>
          <p:cNvSpPr/>
          <p:nvPr/>
        </p:nvSpPr>
        <p:spPr>
          <a:xfrm>
            <a:off x="749880" y="1710000"/>
            <a:ext cx="292320" cy="2923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4"/>
          <p:cNvSpPr/>
          <p:nvPr/>
        </p:nvSpPr>
        <p:spPr>
          <a:xfrm>
            <a:off x="749880" y="17100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5"/>
          <p:cNvSpPr/>
          <p:nvPr/>
        </p:nvSpPr>
        <p:spPr>
          <a:xfrm>
            <a:off x="1170360" y="1508760"/>
            <a:ext cx="4525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Full-stack B2B SaaS CRM built and deployed end-to-end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6"/>
          <p:cNvSpPr/>
          <p:nvPr/>
        </p:nvSpPr>
        <p:spPr>
          <a:xfrm>
            <a:off x="6217920" y="1508760"/>
            <a:ext cx="5348880" cy="68544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63360" dir="5400000" dist="25560" kx="0" ky="0" rotWithShape="0" sx="100000" sy="100000">
              <a:srgbClr val="94A3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7"/>
          <p:cNvSpPr/>
          <p:nvPr/>
        </p:nvSpPr>
        <p:spPr>
          <a:xfrm>
            <a:off x="6419160" y="1710000"/>
            <a:ext cx="292320" cy="2923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8"/>
          <p:cNvSpPr/>
          <p:nvPr/>
        </p:nvSpPr>
        <p:spPr>
          <a:xfrm>
            <a:off x="6419160" y="17100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9"/>
          <p:cNvSpPr/>
          <p:nvPr/>
        </p:nvSpPr>
        <p:spPr>
          <a:xfrm>
            <a:off x="6839640" y="1508760"/>
            <a:ext cx="4525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100-tree Supervised Random Forest ML model integrated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0"/>
          <p:cNvSpPr/>
          <p:nvPr/>
        </p:nvSpPr>
        <p:spPr>
          <a:xfrm>
            <a:off x="548640" y="2450520"/>
            <a:ext cx="5348880" cy="68544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63360" dir="5400000" dist="25560" kx="0" ky="0" rotWithShape="0" sx="100000" sy="100000">
              <a:srgbClr val="94A3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1"/>
          <p:cNvSpPr/>
          <p:nvPr/>
        </p:nvSpPr>
        <p:spPr>
          <a:xfrm>
            <a:off x="749880" y="2651760"/>
            <a:ext cx="292320" cy="2923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2"/>
          <p:cNvSpPr/>
          <p:nvPr/>
        </p:nvSpPr>
        <p:spPr>
          <a:xfrm>
            <a:off x="749880" y="26517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3"/>
          <p:cNvSpPr/>
          <p:nvPr/>
        </p:nvSpPr>
        <p:spPr>
          <a:xfrm>
            <a:off x="1170360" y="2450520"/>
            <a:ext cx="4525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NVIDIA NIM Llama 3.1 70B agentic outreach pipeline live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4"/>
          <p:cNvSpPr/>
          <p:nvPr/>
        </p:nvSpPr>
        <p:spPr>
          <a:xfrm>
            <a:off x="6217920" y="2450520"/>
            <a:ext cx="5348880" cy="68544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63360" dir="5400000" dist="25560" kx="0" ky="0" rotWithShape="0" sx="100000" sy="100000">
              <a:srgbClr val="94A3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5"/>
          <p:cNvSpPr/>
          <p:nvPr/>
        </p:nvSpPr>
        <p:spPr>
          <a:xfrm>
            <a:off x="6419160" y="2651760"/>
            <a:ext cx="292320" cy="2923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6"/>
          <p:cNvSpPr/>
          <p:nvPr/>
        </p:nvSpPr>
        <p:spPr>
          <a:xfrm>
            <a:off x="6419160" y="26517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7"/>
          <p:cNvSpPr/>
          <p:nvPr/>
        </p:nvSpPr>
        <p:spPr>
          <a:xfrm>
            <a:off x="6839640" y="2450520"/>
            <a:ext cx="4525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SQLite WAL database with 60+ realistic B2B SaaS records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8"/>
          <p:cNvSpPr/>
          <p:nvPr/>
        </p:nvSpPr>
        <p:spPr>
          <a:xfrm>
            <a:off x="548640" y="3392280"/>
            <a:ext cx="5348880" cy="68544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63360" dir="5400000" dist="25560" kx="0" ky="0" rotWithShape="0" sx="100000" sy="100000">
              <a:srgbClr val="94A3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9"/>
          <p:cNvSpPr/>
          <p:nvPr/>
        </p:nvSpPr>
        <p:spPr>
          <a:xfrm>
            <a:off x="749880" y="3593520"/>
            <a:ext cx="292320" cy="2923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0"/>
          <p:cNvSpPr/>
          <p:nvPr/>
        </p:nvSpPr>
        <p:spPr>
          <a:xfrm>
            <a:off x="749880" y="35935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1"/>
          <p:cNvSpPr/>
          <p:nvPr/>
        </p:nvSpPr>
        <p:spPr>
          <a:xfrm>
            <a:off x="1170360" y="3392280"/>
            <a:ext cx="4525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22/22 automated Pytest unit tests passing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22"/>
          <p:cNvSpPr/>
          <p:nvPr/>
        </p:nvSpPr>
        <p:spPr>
          <a:xfrm>
            <a:off x="6217920" y="3392280"/>
            <a:ext cx="5348880" cy="68544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63360" dir="5400000" dist="25560" kx="0" ky="0" rotWithShape="0" sx="100000" sy="100000">
              <a:srgbClr val="94A3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23"/>
          <p:cNvSpPr/>
          <p:nvPr/>
        </p:nvSpPr>
        <p:spPr>
          <a:xfrm>
            <a:off x="6419160" y="3593520"/>
            <a:ext cx="292320" cy="2923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4"/>
          <p:cNvSpPr/>
          <p:nvPr/>
        </p:nvSpPr>
        <p:spPr>
          <a:xfrm>
            <a:off x="6419160" y="35935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5"/>
          <p:cNvSpPr/>
          <p:nvPr/>
        </p:nvSpPr>
        <p:spPr>
          <a:xfrm>
            <a:off x="6839640" y="3392280"/>
            <a:ext cx="4525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Responsive React 18 UI with Light/Dark mode and JWT auth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6"/>
          <p:cNvSpPr/>
          <p:nvPr/>
        </p:nvSpPr>
        <p:spPr>
          <a:xfrm>
            <a:off x="548640" y="4471560"/>
            <a:ext cx="11063880" cy="105120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7"/>
          <p:cNvSpPr/>
          <p:nvPr/>
        </p:nvSpPr>
        <p:spPr>
          <a:xfrm>
            <a:off x="868680" y="4471560"/>
            <a:ext cx="10423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i="1" u="none" strike="noStrike">
                <a:solidFill>
                  <a:srgbClr val="93C5FD"/>
                </a:solidFill>
                <a:effectLst/>
                <a:uFillTx/>
                <a:latin typeface="Cambria"/>
                <a:ea typeface="Cambria"/>
              </a:rPr>
              <a:t>“SaaS SalesGenie AI demonstrates the practical convergence of Supervised ML and Generative AI in solving measurable enterprise B2B SaaS revenue problems.”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8"/>
          <p:cNvSpPr/>
          <p:nvPr/>
        </p:nvSpPr>
        <p:spPr>
          <a:xfrm>
            <a:off x="11475720" y="65106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11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1320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1"/>
          <p:cNvSpPr/>
          <p:nvPr/>
        </p:nvSpPr>
        <p:spPr>
          <a:xfrm>
            <a:off x="-1828800" y="4389120"/>
            <a:ext cx="4571640" cy="4571640"/>
          </a:xfrm>
          <a:prstGeom prst="ellipse">
            <a:avLst/>
          </a:prstGeom>
          <a:solidFill>
            <a:srgbClr val="1320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2"/>
          <p:cNvSpPr/>
          <p:nvPr/>
        </p:nvSpPr>
        <p:spPr>
          <a:xfrm>
            <a:off x="822960" y="1920240"/>
            <a:ext cx="10515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3"/>
          <p:cNvSpPr/>
          <p:nvPr/>
        </p:nvSpPr>
        <p:spPr>
          <a:xfrm>
            <a:off x="868680" y="301752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93C5FD"/>
                </a:solidFill>
                <a:effectLst/>
                <a:uFillTx/>
                <a:latin typeface="Calibri"/>
                <a:ea typeface="Calibri"/>
              </a:rPr>
              <a:t>Open for Questions &amp; Live Demonstration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4"/>
          <p:cNvSpPr/>
          <p:nvPr/>
        </p:nvSpPr>
        <p:spPr>
          <a:xfrm>
            <a:off x="868680" y="379476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r>
              <a:rPr lang="en-US" sz="12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Repo: 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github.com/shubh152205/SaaS-SalesGenieAI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Live Demo: 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localhost:5173 (Frontend)  |  localhost:8000/docs (API Docs)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5"/>
          <p:cNvSpPr/>
          <p:nvPr/>
        </p:nvSpPr>
        <p:spPr>
          <a:xfrm>
            <a:off x="868680" y="4754880"/>
            <a:ext cx="1005480" cy="3654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2E43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6"/>
          <p:cNvSpPr/>
          <p:nvPr/>
        </p:nvSpPr>
        <p:spPr>
          <a:xfrm>
            <a:off x="868680" y="475488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React 18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7"/>
          <p:cNvSpPr/>
          <p:nvPr/>
        </p:nvSpPr>
        <p:spPr>
          <a:xfrm>
            <a:off x="2020680" y="4754880"/>
            <a:ext cx="914040" cy="3654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2E43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8"/>
          <p:cNvSpPr/>
          <p:nvPr/>
        </p:nvSpPr>
        <p:spPr>
          <a:xfrm>
            <a:off x="2020680" y="47548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FastAPI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9"/>
          <p:cNvSpPr/>
          <p:nvPr/>
        </p:nvSpPr>
        <p:spPr>
          <a:xfrm>
            <a:off x="3081600" y="4754880"/>
            <a:ext cx="1462680" cy="3654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2E43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0"/>
          <p:cNvSpPr/>
          <p:nvPr/>
        </p:nvSpPr>
        <p:spPr>
          <a:xfrm>
            <a:off x="3081600" y="475488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Random Forest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1"/>
          <p:cNvSpPr/>
          <p:nvPr/>
        </p:nvSpPr>
        <p:spPr>
          <a:xfrm>
            <a:off x="4690800" y="4754880"/>
            <a:ext cx="1188360" cy="3654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2E43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2"/>
          <p:cNvSpPr/>
          <p:nvPr/>
        </p:nvSpPr>
        <p:spPr>
          <a:xfrm>
            <a:off x="4690800" y="475488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NVIDIA NIM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13"/>
          <p:cNvSpPr/>
          <p:nvPr/>
        </p:nvSpPr>
        <p:spPr>
          <a:xfrm>
            <a:off x="6026040" y="4754880"/>
            <a:ext cx="1188360" cy="3654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2E43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4"/>
          <p:cNvSpPr/>
          <p:nvPr/>
        </p:nvSpPr>
        <p:spPr>
          <a:xfrm>
            <a:off x="6026040" y="475488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SQLite WAL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5"/>
          <p:cNvSpPr/>
          <p:nvPr/>
        </p:nvSpPr>
        <p:spPr>
          <a:xfrm>
            <a:off x="868680" y="5532120"/>
            <a:ext cx="10424160" cy="360"/>
          </a:xfrm>
          <a:prstGeom prst="line">
            <a:avLst/>
          </a:prstGeom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6"/>
          <p:cNvSpPr/>
          <p:nvPr/>
        </p:nvSpPr>
        <p:spPr>
          <a:xfrm>
            <a:off x="868680" y="566928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Shubh Sharma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   |   shubh.sharma@example.com   |   Roll No. 21CSE1234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2026-08-18T12:50:46Z</dcterms:created>
  <dc:creator>PptxGenJS</dc:creator>
  <dc:description/>
  <dc:language>en-US</dc:language>
  <cp:lastModifiedBy/>
  <cp:lastPrinted>2026-08-18T20:51:15Z</cp:lastPrinted>
  <dcterms:modified xsi:type="dcterms:W3CDTF">2026-08-18T20:52:26Z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