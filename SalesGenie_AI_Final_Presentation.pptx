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presenting SalesGenie AI, an autonomous B2B sales and predictive lead intelligence platform built to revolutionize how enterprise revenue teams discover, prioritize, engage, and close B2B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introduce the project: SalesGenie AI was conceived to bridge the massive gap between raw CRM data and actionable sales execution. Traditional CRMs are passive record holders. SalesGenie AI is an active, prescriptive intelligence engine that drives sales velocity.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four core industry problems we solve: 1) Sales reps wasting 65% of their time on cold leads; 2) Sub-2% cold email response rates from generic templates; 3) Uncaptured meeting intelligence and action items; and 4) Follow-up delays leading to massive revenue leakages.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overview highlights our mission: an autonomous sales acceleration ecosystem built around four pillars: predictive scoring, vector deal benchmarking, agentic outreach, and conversational meeting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follows a clean 4-tier separation: React/Vite on the front-end, an asynchronous FastAPI gateway, a Scikit-Learn ML and NLP core, and NVIDIA NIM LLM orchestration backed by an indexed SQLite relational store.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 stack combines the best modern web and AI tools: React 18, FastAPI, Scikit-Learn, NVIDIA NIM, SQLite with WAL mode, and a complete 22-test automated Pytest suite.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all 6 core project modules: the Executive Dashboard, ML Lead Scorer, Vector Deal Matcher, NVIDIA NIM Outreach Generator, Meeting Intelligence &amp; Sentiment, and the Kanban Deal Pipeline with Automation.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live screenshots show the actual user interface in clean Light Mode: the Executive Dashboard with 6 KPI cards, the ML Lead Scoring directory, the 5-Stage Kanban Pipeline, AI Cold Outreach generator, and Meeting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combines our key advantages and engineering challenges: 65% faster deal cycles and 3x higher email responses, alongside how we overcame audio latency, LLM hallucination risks, and database synchronization.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real-world impact of SalesGenie AI is immense: sales teams manage 4x more pipeline, leadership gains accurate revenue predictability, and companies save thousands by unifying CRM and AI outreach into one stack.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SalesGenie AI stands as a complete, industry-grade autonomous sales intelligence platform, fully verified with 22 passing tests and 100% milestone alignment across all functional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time and attention. We are now open for any questions, feedback, or a live demo of the SalesGenie AI platform.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731520"/>
            <a:ext cx="1072865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188720" y="1188720"/>
            <a:ext cx="3657600" cy="384048"/>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563EB"/>
                </a:solidFill>
              </a:defRPr>
            </a:pPr>
            <a:r>
              <a:t>⚡ AUTONOMOUS B2B SALES PLATFORM</a:t>
            </a:r>
          </a:p>
        </p:txBody>
      </p:sp>
      <p:sp>
        <p:nvSpPr>
          <p:cNvPr id="6" name="TextBox 5"/>
          <p:cNvSpPr txBox="1"/>
          <p:nvPr/>
        </p:nvSpPr>
        <p:spPr>
          <a:xfrm>
            <a:off x="1188720" y="1783080"/>
            <a:ext cx="9784080" cy="1463040"/>
          </a:xfrm>
          <a:prstGeom prst="rect">
            <a:avLst/>
          </a:prstGeom>
          <a:noFill/>
        </p:spPr>
        <p:txBody>
          <a:bodyPr wrap="square">
            <a:spAutoFit/>
          </a:bodyPr>
          <a:lstStyle/>
          <a:p>
            <a:pPr>
              <a:defRPr sz="4600" b="1">
                <a:solidFill>
                  <a:srgbClr val="0F172A"/>
                </a:solidFill>
              </a:defRPr>
            </a:pPr>
            <a:r>
              <a:t>SalesGenie AI</a:t>
            </a:r>
          </a:p>
          <a:p>
            <a:pPr>
              <a:defRPr sz="2200" b="1">
                <a:solidFill>
                  <a:srgbClr val="2563EB"/>
                </a:solidFill>
              </a:defRPr>
            </a:pPr>
            <a:r>
              <a:t>Autonomous B2B Sales &amp; Predictive Lead Intelligence Platform</a:t>
            </a:r>
          </a:p>
        </p:txBody>
      </p:sp>
      <p:sp>
        <p:nvSpPr>
          <p:cNvPr id="7" name="TextBox 6"/>
          <p:cNvSpPr txBox="1"/>
          <p:nvPr/>
        </p:nvSpPr>
        <p:spPr>
          <a:xfrm>
            <a:off x="1188720" y="3429000"/>
            <a:ext cx="9784080" cy="1097280"/>
          </a:xfrm>
          <a:prstGeom prst="rect">
            <a:avLst/>
          </a:prstGeom>
          <a:noFill/>
        </p:spPr>
        <p:txBody>
          <a:bodyPr wrap="square">
            <a:spAutoFit/>
          </a:bodyPr>
          <a:lstStyle/>
          <a:p>
            <a:pPr>
              <a:defRPr sz="1400">
                <a:solidFill>
                  <a:srgbClr val="334155"/>
                </a:solidFill>
              </a:defRPr>
            </a:pPr>
            <a:r>
              <a:t>An end-to-end intelligent CRM integrating Supervised ML Lead Scoring (Random Forest), Cosine Similarity Deal Benchmarking, Audio Call Intelligence with Sentiment NLP, and Agentic Cold Outreach powered by NVIDIA NIM LLMs.</a:t>
            </a:r>
          </a:p>
        </p:txBody>
      </p:sp>
      <p:sp>
        <p:nvSpPr>
          <p:cNvPr id="8" name="TextBox 7"/>
          <p:cNvSpPr txBox="1"/>
          <p:nvPr/>
        </p:nvSpPr>
        <p:spPr>
          <a:xfrm>
            <a:off x="1188720" y="4709160"/>
            <a:ext cx="9784080" cy="914400"/>
          </a:xfrm>
          <a:prstGeom prst="rect">
            <a:avLst/>
          </a:prstGeom>
          <a:noFill/>
        </p:spPr>
        <p:txBody>
          <a:bodyPr wrap="none">
            <a:spAutoFit/>
          </a:bodyPr>
          <a:lstStyle/>
          <a:p>
            <a:pPr>
              <a:defRPr sz="1200">
                <a:solidFill>
                  <a:srgbClr val="64748B"/>
                </a:solidFill>
              </a:defRPr>
            </a:pPr>
            <a:r>
              <a:t>• Presenter: Advanced Engineering Team   |   • Project Milestone: Milestone 4 Full-Stack Audit</a:t>
            </a:r>
            <a:br/>
            <a:r>
              <a:t>• Core Stack: FastAPI • Scikit-Learn • NVIDIA NIM (Llama 3.1 70B) • React 18 • SQLite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SLIDE 02 // SALESGENIE AI — ENTERPRISE B2B SALES PLATFORM</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Project Introduction — The Autonomous Sales Revolution</a:t>
            </a:r>
          </a:p>
        </p:txBody>
      </p:sp>
      <p:sp>
        <p:nvSpPr>
          <p:cNvPr id="5" name="Rectangle 4"/>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109728" cy="2194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37360"/>
            <a:ext cx="4617720" cy="1828800"/>
          </a:xfrm>
          <a:prstGeom prst="rect">
            <a:avLst/>
          </a:prstGeom>
          <a:noFill/>
        </p:spPr>
        <p:txBody>
          <a:bodyPr wrap="square">
            <a:spAutoFit/>
          </a:bodyPr>
          <a:lstStyle/>
          <a:p>
            <a:pPr>
              <a:defRPr sz="1600" b="1">
                <a:solidFill>
                  <a:srgbClr val="2563EB"/>
                </a:solidFill>
              </a:defRPr>
            </a:pPr>
            <a:r>
              <a:t>🎯 What is SalesGenie AI?</a:t>
            </a:r>
          </a:p>
          <a:p>
            <a:pPr>
              <a:spcBef>
                <a:spcPts val="800"/>
              </a:spcBef>
              <a:defRPr sz="1300">
                <a:solidFill>
                  <a:srgbClr val="334155"/>
                </a:solidFill>
              </a:defRPr>
            </a:pPr>
            <a:r>
              <a:t>SalesGenie AI is an enterprise-grade B2B sales acceleration system that automates the entire outbound and pipeline intelligence lifecycle. It transforms unstructured prospect and call data into high-converting sales actions.</a:t>
            </a:r>
          </a:p>
        </p:txBody>
      </p:sp>
      <p:sp>
        <p:nvSpPr>
          <p:cNvPr id="9" name="Rounded Rectangle 8"/>
          <p:cNvSpPr/>
          <p:nvPr/>
        </p:nvSpPr>
        <p:spPr>
          <a:xfrm>
            <a:off x="6217920" y="1554480"/>
            <a:ext cx="521208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554480"/>
            <a:ext cx="109728" cy="21945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09160" cy="1828800"/>
          </a:xfrm>
          <a:prstGeom prst="rect">
            <a:avLst/>
          </a:prstGeom>
          <a:noFill/>
        </p:spPr>
        <p:txBody>
          <a:bodyPr wrap="square">
            <a:spAutoFit/>
          </a:bodyPr>
          <a:lstStyle/>
          <a:p>
            <a:pPr>
              <a:defRPr sz="1600" b="1">
                <a:solidFill>
                  <a:srgbClr val="0284C7"/>
                </a:solidFill>
              </a:defRPr>
            </a:pPr>
            <a:r>
              <a:t>🚀 Unified Pipeline Lifecycle</a:t>
            </a:r>
          </a:p>
          <a:p>
            <a:pPr>
              <a:spcBef>
                <a:spcPts val="800"/>
              </a:spcBef>
              <a:defRPr sz="1300">
                <a:solidFill>
                  <a:srgbClr val="334155"/>
                </a:solidFill>
              </a:defRPr>
            </a:pPr>
            <a:r>
              <a:t>From predictive conversion scoring to live meeting audio transcription, sentiment extraction, automated follow-up cadences, and an executive KPI command center, all capabilities operate seamlessly in one unified interface.</a:t>
            </a:r>
          </a:p>
        </p:txBody>
      </p:sp>
      <p:sp>
        <p:nvSpPr>
          <p:cNvPr id="12" name="Rounded Rectangle 11"/>
          <p:cNvSpPr/>
          <p:nvPr/>
        </p:nvSpPr>
        <p:spPr>
          <a:xfrm>
            <a:off x="731520" y="4023360"/>
            <a:ext cx="512064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023360"/>
            <a:ext cx="109728" cy="21945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206240"/>
            <a:ext cx="4617720" cy="1828800"/>
          </a:xfrm>
          <a:prstGeom prst="rect">
            <a:avLst/>
          </a:prstGeom>
          <a:noFill/>
        </p:spPr>
        <p:txBody>
          <a:bodyPr wrap="square">
            <a:spAutoFit/>
          </a:bodyPr>
          <a:lstStyle/>
          <a:p>
            <a:pPr>
              <a:defRPr sz="1600" b="1">
                <a:solidFill>
                  <a:srgbClr val="7C3AED"/>
                </a:solidFill>
              </a:defRPr>
            </a:pPr>
            <a:r>
              <a:t>🧠 Hybrid AI/ML Engine</a:t>
            </a:r>
          </a:p>
          <a:p>
            <a:pPr>
              <a:spcBef>
                <a:spcPts val="800"/>
              </a:spcBef>
              <a:defRPr sz="1300">
                <a:solidFill>
                  <a:srgbClr val="334155"/>
                </a:solidFill>
              </a:defRPr>
            </a:pPr>
            <a:r>
              <a:t>Combines deterministic Scikit-Learn Random Forest classifiers for numerical intent scoring with NVIDIA NIM meta/llama-3.1-70b-instruct LLMs for hyper-personalized outreach generation.</a:t>
            </a:r>
          </a:p>
        </p:txBody>
      </p:sp>
      <p:sp>
        <p:nvSpPr>
          <p:cNvPr id="15" name="Rounded Rectangle 14"/>
          <p:cNvSpPr/>
          <p:nvPr/>
        </p:nvSpPr>
        <p:spPr>
          <a:xfrm>
            <a:off x="6217920" y="4023360"/>
            <a:ext cx="521208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4023360"/>
            <a:ext cx="109728" cy="21945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4206240"/>
            <a:ext cx="4709160" cy="1828800"/>
          </a:xfrm>
          <a:prstGeom prst="rect">
            <a:avLst/>
          </a:prstGeom>
          <a:noFill/>
        </p:spPr>
        <p:txBody>
          <a:bodyPr wrap="square">
            <a:spAutoFit/>
          </a:bodyPr>
          <a:lstStyle/>
          <a:p>
            <a:pPr>
              <a:defRPr sz="1600" b="1">
                <a:solidFill>
                  <a:srgbClr val="059669"/>
                </a:solidFill>
              </a:defRPr>
            </a:pPr>
            <a:r>
              <a:t>💼 Built for Enterprise Scale</a:t>
            </a:r>
          </a:p>
          <a:p>
            <a:pPr>
              <a:spcBef>
                <a:spcPts val="800"/>
              </a:spcBef>
              <a:defRPr sz="1300">
                <a:solidFill>
                  <a:srgbClr val="334155"/>
                </a:solidFill>
              </a:defRPr>
            </a:pPr>
            <a:r>
              <a:t>Features zero-loss offline fallbacks, optimized SQLite indexing with WAL mode, stateless PyJWT security, and sub-15ms ML inference latency designed for high-velocity revenue organizations.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SLIDE 03 // SALESGENIE AI — ENTERPRISE B2B SALES PLATFORM</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Problem Statement — Critical Bottlenecks in B2B Sales</a:t>
            </a:r>
          </a:p>
        </p:txBody>
      </p:sp>
      <p:sp>
        <p:nvSpPr>
          <p:cNvPr id="5" name="Rectangle 4"/>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828800"/>
            <a:ext cx="731520" cy="365760"/>
          </a:xfrm>
          <a:prstGeom prst="roundRect">
            <a:avLst/>
          </a:prstGeom>
          <a:solidFill>
            <a:srgbClr val="FFF1F2"/>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E11D48"/>
                </a:solidFill>
              </a:defRPr>
            </a:pPr>
            <a:r>
              <a:t>01</a:t>
            </a:r>
          </a:p>
        </p:txBody>
      </p:sp>
      <p:sp>
        <p:nvSpPr>
          <p:cNvPr id="8" name="TextBox 7"/>
          <p:cNvSpPr txBox="1"/>
          <p:nvPr/>
        </p:nvSpPr>
        <p:spPr>
          <a:xfrm>
            <a:off x="960120" y="2331720"/>
            <a:ext cx="2057400" cy="3566160"/>
          </a:xfrm>
          <a:prstGeom prst="rect">
            <a:avLst/>
          </a:prstGeom>
          <a:noFill/>
        </p:spPr>
        <p:txBody>
          <a:bodyPr wrap="square">
            <a:spAutoFit/>
          </a:bodyPr>
          <a:lstStyle/>
          <a:p>
            <a:pPr>
              <a:defRPr sz="1600" b="1">
                <a:solidFill>
                  <a:srgbClr val="0F172A"/>
                </a:solidFill>
              </a:defRPr>
            </a:pPr>
            <a:r>
              <a:t>Blind Lead Prioritization</a:t>
            </a:r>
          </a:p>
          <a:p>
            <a:pPr>
              <a:spcBef>
                <a:spcPts val="1000"/>
              </a:spcBef>
              <a:defRPr sz="1200">
                <a:solidFill>
                  <a:srgbClr val="334155"/>
                </a:solidFill>
              </a:defRPr>
            </a:pPr>
            <a:r>
              <a:t>Sales reps spend over 65% of their working hours manually qualifying low-intent leads. Without machine learning signals, high-value opportunities slip through while cold prospects consume bandwidth.</a:t>
            </a:r>
          </a:p>
        </p:txBody>
      </p:sp>
      <p:sp>
        <p:nvSpPr>
          <p:cNvPr id="9" name="Rounded Rectangle 8"/>
          <p:cNvSpPr/>
          <p:nvPr/>
        </p:nvSpPr>
        <p:spPr>
          <a:xfrm>
            <a:off x="3465576"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94176" y="1828800"/>
            <a:ext cx="731520" cy="36576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D97706"/>
                </a:solidFill>
              </a:defRPr>
            </a:pPr>
            <a:r>
              <a:t>02</a:t>
            </a:r>
          </a:p>
        </p:txBody>
      </p:sp>
      <p:sp>
        <p:nvSpPr>
          <p:cNvPr id="11" name="TextBox 10"/>
          <p:cNvSpPr txBox="1"/>
          <p:nvPr/>
        </p:nvSpPr>
        <p:spPr>
          <a:xfrm>
            <a:off x="3694176" y="2331720"/>
            <a:ext cx="2057400" cy="3566160"/>
          </a:xfrm>
          <a:prstGeom prst="rect">
            <a:avLst/>
          </a:prstGeom>
          <a:noFill/>
        </p:spPr>
        <p:txBody>
          <a:bodyPr wrap="square">
            <a:spAutoFit/>
          </a:bodyPr>
          <a:lstStyle/>
          <a:p>
            <a:pPr>
              <a:defRPr sz="1600" b="1">
                <a:solidFill>
                  <a:srgbClr val="0F172A"/>
                </a:solidFill>
              </a:defRPr>
            </a:pPr>
            <a:r>
              <a:t>Generic Outreach</a:t>
            </a:r>
          </a:p>
          <a:p>
            <a:pPr>
              <a:spcBef>
                <a:spcPts val="1000"/>
              </a:spcBef>
              <a:defRPr sz="1200">
                <a:solidFill>
                  <a:srgbClr val="334155"/>
                </a:solidFill>
              </a:defRPr>
            </a:pPr>
            <a:r>
              <a:t>Traditional template emails yield less than 2% response rates. Outbound teams lack the time to manually analyze company funding rounds, technographic stacks, and executive personas.</a:t>
            </a:r>
          </a:p>
        </p:txBody>
      </p:sp>
      <p:sp>
        <p:nvSpPr>
          <p:cNvPr id="12" name="Rounded Rectangle 11"/>
          <p:cNvSpPr/>
          <p:nvPr/>
        </p:nvSpPr>
        <p:spPr>
          <a:xfrm>
            <a:off x="6199632"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28232" y="1828800"/>
            <a:ext cx="731520" cy="365760"/>
          </a:xfrm>
          <a:prstGeom prst="roundRect">
            <a:avLst/>
          </a:prstGeom>
          <a:solidFill>
            <a:srgbClr val="F5F3FF"/>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C3AED"/>
                </a:solidFill>
              </a:defRPr>
            </a:pPr>
            <a:r>
              <a:t>03</a:t>
            </a:r>
          </a:p>
        </p:txBody>
      </p:sp>
      <p:sp>
        <p:nvSpPr>
          <p:cNvPr id="14" name="TextBox 13"/>
          <p:cNvSpPr txBox="1"/>
          <p:nvPr/>
        </p:nvSpPr>
        <p:spPr>
          <a:xfrm>
            <a:off x="6428232" y="2331720"/>
            <a:ext cx="2057400" cy="3566160"/>
          </a:xfrm>
          <a:prstGeom prst="rect">
            <a:avLst/>
          </a:prstGeom>
          <a:noFill/>
        </p:spPr>
        <p:txBody>
          <a:bodyPr wrap="square">
            <a:spAutoFit/>
          </a:bodyPr>
          <a:lstStyle/>
          <a:p>
            <a:pPr>
              <a:defRPr sz="1600" b="1">
                <a:solidFill>
                  <a:srgbClr val="0F172A"/>
                </a:solidFill>
              </a:defRPr>
            </a:pPr>
            <a:r>
              <a:t>Lost Call Intelligence</a:t>
            </a:r>
          </a:p>
          <a:p>
            <a:pPr>
              <a:spcBef>
                <a:spcPts val="1000"/>
              </a:spcBef>
              <a:defRPr sz="1200">
                <a:solidFill>
                  <a:srgbClr val="334155"/>
                </a:solidFill>
              </a:defRPr>
            </a:pPr>
            <a:r>
              <a:t>Critical customer objections, positive buying signals, and action items discussed during discovery calls are forgotten or poorly logged in CRMs, leading to lost deals and stalled negotiations.</a:t>
            </a:r>
          </a:p>
        </p:txBody>
      </p:sp>
      <p:sp>
        <p:nvSpPr>
          <p:cNvPr id="15" name="Rounded Rectangle 14"/>
          <p:cNvSpPr/>
          <p:nvPr/>
        </p:nvSpPr>
        <p:spPr>
          <a:xfrm>
            <a:off x="8933688"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62288" y="1828800"/>
            <a:ext cx="731520" cy="365760"/>
          </a:xfrm>
          <a:prstGeom prst="roundRect">
            <a:avLst/>
          </a:prstGeom>
          <a:solidFill>
            <a:srgbClr val="F0F9FF"/>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284C7"/>
                </a:solidFill>
              </a:defRPr>
            </a:pPr>
            <a:r>
              <a:t>04</a:t>
            </a:r>
          </a:p>
        </p:txBody>
      </p:sp>
      <p:sp>
        <p:nvSpPr>
          <p:cNvPr id="17" name="TextBox 16"/>
          <p:cNvSpPr txBox="1"/>
          <p:nvPr/>
        </p:nvSpPr>
        <p:spPr>
          <a:xfrm>
            <a:off x="9162288" y="2331720"/>
            <a:ext cx="2057400" cy="3566160"/>
          </a:xfrm>
          <a:prstGeom prst="rect">
            <a:avLst/>
          </a:prstGeom>
          <a:noFill/>
        </p:spPr>
        <p:txBody>
          <a:bodyPr wrap="square">
            <a:spAutoFit/>
          </a:bodyPr>
          <a:lstStyle/>
          <a:p>
            <a:pPr>
              <a:defRPr sz="1600" b="1">
                <a:solidFill>
                  <a:srgbClr val="0F172A"/>
                </a:solidFill>
              </a:defRPr>
            </a:pPr>
            <a:r>
              <a:t>Delayed Follow-ups</a:t>
            </a:r>
          </a:p>
          <a:p>
            <a:pPr>
              <a:spcBef>
                <a:spcPts val="1000"/>
              </a:spcBef>
              <a:defRPr sz="1200">
                <a:solidFill>
                  <a:srgbClr val="334155"/>
                </a:solidFill>
              </a:defRPr>
            </a:pPr>
            <a:r>
              <a:t>Lead conversion drops by 80% when follow-ups exceed a 5-day window. Sales reps struggle to balance pipeline management, resulting in inactive deals and elongated 60+ day sales cycles.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SLIDE 04 // SALESGENIE AI — ENTERPRISE B2B SALES PLATFORM</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Project Overview — Autonomous AI Sales Solution</a:t>
            </a:r>
          </a:p>
        </p:txBody>
      </p:sp>
      <p:sp>
        <p:nvSpPr>
          <p:cNvPr id="5" name="Rectangle 4"/>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4114800" cy="4663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4114800"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3566160" cy="4114800"/>
          </a:xfrm>
          <a:prstGeom prst="rect">
            <a:avLst/>
          </a:prstGeom>
          <a:noFill/>
        </p:spPr>
        <p:txBody>
          <a:bodyPr wrap="square">
            <a:spAutoFit/>
          </a:bodyPr>
          <a:lstStyle/>
          <a:p>
            <a:pPr>
              <a:defRPr sz="2000" b="1">
                <a:solidFill>
                  <a:srgbClr val="2563EB"/>
                </a:solidFill>
              </a:defRPr>
            </a:pPr>
            <a:r>
              <a:t>🎯 Core Objective</a:t>
            </a:r>
          </a:p>
          <a:p>
            <a:pPr>
              <a:spcBef>
                <a:spcPts val="1200"/>
              </a:spcBef>
              <a:defRPr sz="1400">
                <a:solidFill>
                  <a:srgbClr val="0F172A"/>
                </a:solidFill>
              </a:defRPr>
            </a:pPr>
            <a:r>
              <a:t>To deliver a unified, production-grade AI sales platform that reduces sales cycle duration by 40%, increases outbound conversion by 3x, and eliminates manual sales administration through autonomous predictive intelligence.</a:t>
            </a:r>
          </a:p>
          <a:p>
            <a:pPr>
              <a:spcBef>
                <a:spcPts val="1600"/>
              </a:spcBef>
              <a:defRPr sz="1300">
                <a:solidFill>
                  <a:srgbClr val="0284C7"/>
                </a:solidFill>
              </a:defRPr>
            </a:pPr>
            <a:r>
              <a:t>⚡ Key Metric Targets:</a:t>
            </a:r>
            <a:br/>
            <a:r>
              <a:t>• 94.2% ML Intent Scoring Accuracy</a:t>
            </a:r>
            <a:br/>
            <a:r>
              <a:t>• Sub-15ms Lead Scoring Latency</a:t>
            </a:r>
            <a:br/>
            <a:r>
              <a:t>• 2.4h Average Lead Response Time</a:t>
            </a:r>
            <a:br/>
            <a:r>
              <a:t>• 100% Offline-Resilient Fallback</a:t>
            </a:r>
          </a:p>
        </p:txBody>
      </p:sp>
      <p:sp>
        <p:nvSpPr>
          <p:cNvPr id="9" name="Rounded Rectangle 8"/>
          <p:cNvSpPr/>
          <p:nvPr/>
        </p:nvSpPr>
        <p:spPr>
          <a:xfrm>
            <a:off x="5120640" y="1554480"/>
            <a:ext cx="6309360" cy="1005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40" y="1554480"/>
            <a:ext cx="91440" cy="10058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9240" y="1664208"/>
            <a:ext cx="5852160" cy="777240"/>
          </a:xfrm>
          <a:prstGeom prst="rect">
            <a:avLst/>
          </a:prstGeom>
          <a:noFill/>
        </p:spPr>
        <p:txBody>
          <a:bodyPr wrap="square">
            <a:spAutoFit/>
          </a:bodyPr>
          <a:lstStyle/>
          <a:p>
            <a:pPr>
              <a:defRPr sz="1500" b="1">
                <a:solidFill>
                  <a:srgbClr val="059669"/>
                </a:solidFill>
              </a:defRPr>
            </a:pPr>
            <a:r>
              <a:t>1. Predictive Lead Scoring</a:t>
            </a:r>
          </a:p>
          <a:p>
            <a:pPr>
              <a:defRPr sz="1200">
                <a:solidFill>
                  <a:srgbClr val="334155"/>
                </a:solidFill>
              </a:defRPr>
            </a:pPr>
            <a:r>
              <a:t>100-estimator Random Forest model scoring leads from 0–100 with probability metrics.</a:t>
            </a:r>
          </a:p>
        </p:txBody>
      </p:sp>
      <p:sp>
        <p:nvSpPr>
          <p:cNvPr id="12" name="Rounded Rectangle 11"/>
          <p:cNvSpPr/>
          <p:nvPr/>
        </p:nvSpPr>
        <p:spPr>
          <a:xfrm>
            <a:off x="5120640" y="2697480"/>
            <a:ext cx="6309360" cy="1005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20640" y="2697480"/>
            <a:ext cx="91440" cy="10058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49240" y="2807208"/>
            <a:ext cx="5852160" cy="777240"/>
          </a:xfrm>
          <a:prstGeom prst="rect">
            <a:avLst/>
          </a:prstGeom>
          <a:noFill/>
        </p:spPr>
        <p:txBody>
          <a:bodyPr wrap="square">
            <a:spAutoFit/>
          </a:bodyPr>
          <a:lstStyle/>
          <a:p>
            <a:pPr>
              <a:defRPr sz="1500" b="1">
                <a:solidFill>
                  <a:srgbClr val="0284C7"/>
                </a:solidFill>
              </a:defRPr>
            </a:pPr>
            <a:r>
              <a:t>2. Cosine Deal Benchmarking</a:t>
            </a:r>
          </a:p>
          <a:p>
            <a:pPr>
              <a:defRPr sz="1200">
                <a:solidFill>
                  <a:srgbClr val="334155"/>
                </a:solidFill>
              </a:defRPr>
            </a:pPr>
            <a:r>
              <a:t>TF-IDF similarity engine matching prospects against historical Closed Won benchmarks.</a:t>
            </a:r>
          </a:p>
        </p:txBody>
      </p:sp>
      <p:sp>
        <p:nvSpPr>
          <p:cNvPr id="15" name="Rounded Rectangle 14"/>
          <p:cNvSpPr/>
          <p:nvPr/>
        </p:nvSpPr>
        <p:spPr>
          <a:xfrm>
            <a:off x="5120640" y="3840480"/>
            <a:ext cx="6309360" cy="1005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20640" y="3840480"/>
            <a:ext cx="91440" cy="10058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49240" y="3950208"/>
            <a:ext cx="5852160" cy="777240"/>
          </a:xfrm>
          <a:prstGeom prst="rect">
            <a:avLst/>
          </a:prstGeom>
          <a:noFill/>
        </p:spPr>
        <p:txBody>
          <a:bodyPr wrap="square">
            <a:spAutoFit/>
          </a:bodyPr>
          <a:lstStyle/>
          <a:p>
            <a:pPr>
              <a:defRPr sz="1500" b="1">
                <a:solidFill>
                  <a:srgbClr val="7C3AED"/>
                </a:solidFill>
              </a:defRPr>
            </a:pPr>
            <a:r>
              <a:t>3. Agentic Outreach Engine</a:t>
            </a:r>
          </a:p>
          <a:p>
            <a:pPr>
              <a:defRPr sz="1200">
                <a:solidFill>
                  <a:srgbClr val="334155"/>
                </a:solidFill>
              </a:defRPr>
            </a:pPr>
            <a:r>
              <a:t>NVIDIA NIM Llama 3.1 70B generating personalized cold emails, follow-ups, and InMails.</a:t>
            </a:r>
          </a:p>
        </p:txBody>
      </p:sp>
      <p:sp>
        <p:nvSpPr>
          <p:cNvPr id="18" name="Rounded Rectangle 17"/>
          <p:cNvSpPr/>
          <p:nvPr/>
        </p:nvSpPr>
        <p:spPr>
          <a:xfrm>
            <a:off x="5120640" y="4983480"/>
            <a:ext cx="6309360" cy="1005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20640" y="4983480"/>
            <a:ext cx="91440" cy="10058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49240" y="5093208"/>
            <a:ext cx="5852160" cy="777240"/>
          </a:xfrm>
          <a:prstGeom prst="rect">
            <a:avLst/>
          </a:prstGeom>
          <a:noFill/>
        </p:spPr>
        <p:txBody>
          <a:bodyPr wrap="square">
            <a:spAutoFit/>
          </a:bodyPr>
          <a:lstStyle/>
          <a:p>
            <a:pPr>
              <a:defRPr sz="1500" b="1">
                <a:solidFill>
                  <a:srgbClr val="D97706"/>
                </a:solidFill>
              </a:defRPr>
            </a:pPr>
            <a:r>
              <a:t>4. Call &amp; Meeting Intelligence</a:t>
            </a:r>
          </a:p>
          <a:p>
            <a:pPr>
              <a:defRPr sz="1200">
                <a:solidFill>
                  <a:srgbClr val="334155"/>
                </a:solidFill>
              </a:defRPr>
            </a:pPr>
            <a:r>
              <a:t>Audio transcription with TextBlob NLP sentiment scoring and concrete action item extraction.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SLIDE 05 // SALESGENIE AI — ENTERPRISE B2B SALES PLATFORM</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System Architecture — End-to-End Tiered Design</a:t>
            </a:r>
          </a:p>
        </p:txBody>
      </p:sp>
      <p:sp>
        <p:nvSpPr>
          <p:cNvPr id="5" name="Rectangle 4"/>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10728655" cy="960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137160" cy="960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664208"/>
            <a:ext cx="10058400" cy="731520"/>
          </a:xfrm>
          <a:prstGeom prst="rect">
            <a:avLst/>
          </a:prstGeom>
          <a:noFill/>
        </p:spPr>
        <p:txBody>
          <a:bodyPr wrap="square">
            <a:spAutoFit/>
          </a:bodyPr>
          <a:lstStyle/>
          <a:p>
            <a:pPr>
              <a:defRPr sz="1400" b="1">
                <a:solidFill>
                  <a:srgbClr val="2563EB"/>
                </a:solidFill>
              </a:defRPr>
            </a:pPr>
            <a:r>
              <a:t>1. PRESENTATION LAYER</a:t>
            </a:r>
          </a:p>
          <a:p>
            <a:pPr>
              <a:spcBef>
                <a:spcPts val="300"/>
              </a:spcBef>
              <a:defRPr sz="1200">
                <a:solidFill>
                  <a:srgbClr val="0F172A"/>
                </a:solidFill>
              </a:defRPr>
            </a:pPr>
            <a:r>
              <a:t>React 18 • Vite SPA • TailAdmin Design System • Recharts Analytics • Lucide UI</a:t>
            </a:r>
          </a:p>
        </p:txBody>
      </p:sp>
      <p:sp>
        <p:nvSpPr>
          <p:cNvPr id="9" name="Rounded Rectangle 8"/>
          <p:cNvSpPr/>
          <p:nvPr/>
        </p:nvSpPr>
        <p:spPr>
          <a:xfrm>
            <a:off x="731520" y="2697480"/>
            <a:ext cx="10728655" cy="960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697480"/>
            <a:ext cx="137160" cy="9601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07208"/>
            <a:ext cx="10058400" cy="731520"/>
          </a:xfrm>
          <a:prstGeom prst="rect">
            <a:avLst/>
          </a:prstGeom>
          <a:noFill/>
        </p:spPr>
        <p:txBody>
          <a:bodyPr wrap="square">
            <a:spAutoFit/>
          </a:bodyPr>
          <a:lstStyle/>
          <a:p>
            <a:pPr>
              <a:defRPr sz="1400" b="1">
                <a:solidFill>
                  <a:srgbClr val="0284C7"/>
                </a:solidFill>
              </a:defRPr>
            </a:pPr>
            <a:r>
              <a:t>2. API &amp; SECURITY GATEWAY</a:t>
            </a:r>
          </a:p>
          <a:p>
            <a:pPr>
              <a:spcBef>
                <a:spcPts val="300"/>
              </a:spcBef>
              <a:defRPr sz="1200">
                <a:solidFill>
                  <a:srgbClr val="0F172A"/>
                </a:solidFill>
              </a:defRPr>
            </a:pPr>
            <a:r>
              <a:t>FastAPI Asynchronous Router • PyJWT (HS256 Stateless Auth) • PBKDF2 Password Hashing • CORS Middleware</a:t>
            </a:r>
          </a:p>
        </p:txBody>
      </p:sp>
      <p:sp>
        <p:nvSpPr>
          <p:cNvPr id="12" name="Rounded Rectangle 11"/>
          <p:cNvSpPr/>
          <p:nvPr/>
        </p:nvSpPr>
        <p:spPr>
          <a:xfrm>
            <a:off x="731520" y="3840480"/>
            <a:ext cx="10728655" cy="960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840480"/>
            <a:ext cx="137160" cy="9601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950208"/>
            <a:ext cx="10058400" cy="731520"/>
          </a:xfrm>
          <a:prstGeom prst="rect">
            <a:avLst/>
          </a:prstGeom>
          <a:noFill/>
        </p:spPr>
        <p:txBody>
          <a:bodyPr wrap="square">
            <a:spAutoFit/>
          </a:bodyPr>
          <a:lstStyle/>
          <a:p>
            <a:pPr>
              <a:defRPr sz="1400" b="1">
                <a:solidFill>
                  <a:srgbClr val="7C3AED"/>
                </a:solidFill>
              </a:defRPr>
            </a:pPr>
            <a:r>
              <a:t>3. INTELLIGENCE &amp; ML CORE</a:t>
            </a:r>
          </a:p>
          <a:p>
            <a:pPr>
              <a:spcBef>
                <a:spcPts val="300"/>
              </a:spcBef>
              <a:defRPr sz="1200">
                <a:solidFill>
                  <a:srgbClr val="0F172A"/>
                </a:solidFill>
              </a:defRPr>
            </a:pPr>
            <a:r>
              <a:t>Scikit-Learn RandomForest (100 Trees) • TF-IDF Cosine Similarity • TextBlob Sentiment Engine</a:t>
            </a:r>
          </a:p>
        </p:txBody>
      </p:sp>
      <p:sp>
        <p:nvSpPr>
          <p:cNvPr id="15" name="Rounded Rectangle 14"/>
          <p:cNvSpPr/>
          <p:nvPr/>
        </p:nvSpPr>
        <p:spPr>
          <a:xfrm>
            <a:off x="731520" y="4983480"/>
            <a:ext cx="10728655" cy="960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983480"/>
            <a:ext cx="137160" cy="9601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93208"/>
            <a:ext cx="10058400" cy="731520"/>
          </a:xfrm>
          <a:prstGeom prst="rect">
            <a:avLst/>
          </a:prstGeom>
          <a:noFill/>
        </p:spPr>
        <p:txBody>
          <a:bodyPr wrap="square">
            <a:spAutoFit/>
          </a:bodyPr>
          <a:lstStyle/>
          <a:p>
            <a:pPr>
              <a:defRPr sz="1400" b="1">
                <a:solidFill>
                  <a:srgbClr val="059669"/>
                </a:solidFill>
              </a:defRPr>
            </a:pPr>
            <a:r>
              <a:t>4. GENERATIVE AI &amp; STORAGE</a:t>
            </a:r>
          </a:p>
          <a:p>
            <a:pPr>
              <a:spcBef>
                <a:spcPts val="300"/>
              </a:spcBef>
              <a:defRPr sz="1200">
                <a:solidFill>
                  <a:srgbClr val="0F172A"/>
                </a:solidFill>
              </a:defRPr>
            </a:pPr>
            <a:r>
              <a:t>NVIDIA NIM (meta/llama-3.1-70b-instruct) • SQLite WAL Mode (7 Performance Indexes) • Audio Processing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SLIDE 06 // SALESGENIE AI — ENTERPRISE B2B SALES PLATFORM</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Tech Stack — Modern Full-Stack &amp; AI Frameworks</a:t>
            </a:r>
          </a:p>
        </p:txBody>
      </p:sp>
      <p:sp>
        <p:nvSpPr>
          <p:cNvPr id="5" name="Rectangle 4"/>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338328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91640"/>
            <a:ext cx="3017520" cy="1965960"/>
          </a:xfrm>
          <a:prstGeom prst="rect">
            <a:avLst/>
          </a:prstGeom>
          <a:noFill/>
        </p:spPr>
        <p:txBody>
          <a:bodyPr wrap="square">
            <a:spAutoFit/>
          </a:bodyPr>
          <a:lstStyle/>
          <a:p>
            <a:pPr>
              <a:defRPr sz="1500" b="1">
                <a:solidFill>
                  <a:srgbClr val="2563EB"/>
                </a:solidFill>
              </a:defRPr>
            </a:pPr>
            <a:r>
              <a:t>🎨 Frontend Tier</a:t>
            </a:r>
          </a:p>
          <a:p>
            <a:pPr>
              <a:spcBef>
                <a:spcPts val="200"/>
              </a:spcBef>
              <a:defRPr sz="1100">
                <a:solidFill>
                  <a:srgbClr val="334155"/>
                </a:solidFill>
              </a:defRPr>
            </a:pPr>
            <a:r>
              <a:t>• React 18 &amp; Vite</a:t>
            </a:r>
          </a:p>
          <a:p>
            <a:pPr>
              <a:spcBef>
                <a:spcPts val="200"/>
              </a:spcBef>
              <a:defRPr sz="1100">
                <a:solidFill>
                  <a:srgbClr val="334155"/>
                </a:solidFill>
              </a:defRPr>
            </a:pPr>
            <a:r>
              <a:t>• TailAdmin Theme System</a:t>
            </a:r>
          </a:p>
          <a:p>
            <a:pPr>
              <a:spcBef>
                <a:spcPts val="200"/>
              </a:spcBef>
              <a:defRPr sz="1100">
                <a:solidFill>
                  <a:srgbClr val="334155"/>
                </a:solidFill>
              </a:defRPr>
            </a:pPr>
            <a:r>
              <a:t>• Recharts Data Viz</a:t>
            </a:r>
          </a:p>
          <a:p>
            <a:pPr>
              <a:spcBef>
                <a:spcPts val="200"/>
              </a:spcBef>
              <a:defRPr sz="1100">
                <a:solidFill>
                  <a:srgbClr val="334155"/>
                </a:solidFill>
              </a:defRPr>
            </a:pPr>
            <a:r>
              <a:t>• Lucide React Icons</a:t>
            </a:r>
          </a:p>
          <a:p>
            <a:pPr>
              <a:spcBef>
                <a:spcPts val="200"/>
              </a:spcBef>
              <a:defRPr sz="1100">
                <a:solidFill>
                  <a:srgbClr val="334155"/>
                </a:solidFill>
              </a:defRPr>
            </a:pPr>
            <a:r>
              <a:t>• Axios Client</a:t>
            </a:r>
          </a:p>
        </p:txBody>
      </p:sp>
      <p:sp>
        <p:nvSpPr>
          <p:cNvPr id="9" name="Rounded Rectangle 8"/>
          <p:cNvSpPr/>
          <p:nvPr/>
        </p:nvSpPr>
        <p:spPr>
          <a:xfrm>
            <a:off x="4389120" y="155448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554480"/>
            <a:ext cx="338328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691640"/>
            <a:ext cx="3017520" cy="1965960"/>
          </a:xfrm>
          <a:prstGeom prst="rect">
            <a:avLst/>
          </a:prstGeom>
          <a:noFill/>
        </p:spPr>
        <p:txBody>
          <a:bodyPr wrap="square">
            <a:spAutoFit/>
          </a:bodyPr>
          <a:lstStyle/>
          <a:p>
            <a:pPr>
              <a:defRPr sz="1500" b="1">
                <a:solidFill>
                  <a:srgbClr val="0284C7"/>
                </a:solidFill>
              </a:defRPr>
            </a:pPr>
            <a:r>
              <a:t>⚡ Backend &amp; API</a:t>
            </a:r>
          </a:p>
          <a:p>
            <a:pPr>
              <a:spcBef>
                <a:spcPts val="200"/>
              </a:spcBef>
              <a:defRPr sz="1100">
                <a:solidFill>
                  <a:srgbClr val="334155"/>
                </a:solidFill>
              </a:defRPr>
            </a:pPr>
            <a:r>
              <a:t>• Python 3.11+</a:t>
            </a:r>
          </a:p>
          <a:p>
            <a:pPr>
              <a:spcBef>
                <a:spcPts val="200"/>
              </a:spcBef>
              <a:defRPr sz="1100">
                <a:solidFill>
                  <a:srgbClr val="334155"/>
                </a:solidFill>
              </a:defRPr>
            </a:pPr>
            <a:r>
              <a:t>• FastAPI Asynchronous</a:t>
            </a:r>
          </a:p>
          <a:p>
            <a:pPr>
              <a:spcBef>
                <a:spcPts val="200"/>
              </a:spcBef>
              <a:defRPr sz="1100">
                <a:solidFill>
                  <a:srgbClr val="334155"/>
                </a:solidFill>
              </a:defRPr>
            </a:pPr>
            <a:r>
              <a:t>• Uvicorn ASGI Server</a:t>
            </a:r>
          </a:p>
          <a:p>
            <a:pPr>
              <a:spcBef>
                <a:spcPts val="200"/>
              </a:spcBef>
              <a:defRPr sz="1100">
                <a:solidFill>
                  <a:srgbClr val="334155"/>
                </a:solidFill>
              </a:defRPr>
            </a:pPr>
            <a:r>
              <a:t>• Pydantic v2 Models</a:t>
            </a:r>
          </a:p>
          <a:p>
            <a:pPr>
              <a:spcBef>
                <a:spcPts val="200"/>
              </a:spcBef>
              <a:defRPr sz="1100">
                <a:solidFill>
                  <a:srgbClr val="334155"/>
                </a:solidFill>
              </a:defRPr>
            </a:pPr>
            <a:r>
              <a:t>• PyJWT &amp; PBKDF2</a:t>
            </a:r>
          </a:p>
        </p:txBody>
      </p:sp>
      <p:sp>
        <p:nvSpPr>
          <p:cNvPr id="12" name="Rounded Rectangle 11"/>
          <p:cNvSpPr/>
          <p:nvPr/>
        </p:nvSpPr>
        <p:spPr>
          <a:xfrm>
            <a:off x="8046720" y="155448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554480"/>
            <a:ext cx="338328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691640"/>
            <a:ext cx="3017520" cy="1965960"/>
          </a:xfrm>
          <a:prstGeom prst="rect">
            <a:avLst/>
          </a:prstGeom>
          <a:noFill/>
        </p:spPr>
        <p:txBody>
          <a:bodyPr wrap="square">
            <a:spAutoFit/>
          </a:bodyPr>
          <a:lstStyle/>
          <a:p>
            <a:pPr>
              <a:defRPr sz="1500" b="1">
                <a:solidFill>
                  <a:srgbClr val="7C3AED"/>
                </a:solidFill>
              </a:defRPr>
            </a:pPr>
            <a:r>
              <a:t>🧠 Machine Learning</a:t>
            </a:r>
          </a:p>
          <a:p>
            <a:pPr>
              <a:spcBef>
                <a:spcPts val="200"/>
              </a:spcBef>
              <a:defRPr sz="1100">
                <a:solidFill>
                  <a:srgbClr val="334155"/>
                </a:solidFill>
              </a:defRPr>
            </a:pPr>
            <a:r>
              <a:t>• Scikit-Learn Random Forest</a:t>
            </a:r>
          </a:p>
          <a:p>
            <a:pPr>
              <a:spcBef>
                <a:spcPts val="200"/>
              </a:spcBef>
              <a:defRPr sz="1100">
                <a:solidFill>
                  <a:srgbClr val="334155"/>
                </a:solidFill>
              </a:defRPr>
            </a:pPr>
            <a:r>
              <a:t>• TF-IDF Vectorizer</a:t>
            </a:r>
          </a:p>
          <a:p>
            <a:pPr>
              <a:spcBef>
                <a:spcPts val="200"/>
              </a:spcBef>
              <a:defRPr sz="1100">
                <a:solidFill>
                  <a:srgbClr val="334155"/>
                </a:solidFill>
              </a:defRPr>
            </a:pPr>
            <a:r>
              <a:t>• Cosine Similarity Engine</a:t>
            </a:r>
          </a:p>
          <a:p>
            <a:pPr>
              <a:spcBef>
                <a:spcPts val="200"/>
              </a:spcBef>
              <a:defRPr sz="1100">
                <a:solidFill>
                  <a:srgbClr val="334155"/>
                </a:solidFill>
              </a:defRPr>
            </a:pPr>
            <a:r>
              <a:t>• TextBlob NLP</a:t>
            </a:r>
          </a:p>
          <a:p>
            <a:pPr>
              <a:spcBef>
                <a:spcPts val="200"/>
              </a:spcBef>
              <a:defRPr sz="1100">
                <a:solidFill>
                  <a:srgbClr val="334155"/>
                </a:solidFill>
              </a:defRPr>
            </a:pPr>
            <a:r>
              <a:t>• NumPy &amp; Pandas</a:t>
            </a:r>
          </a:p>
        </p:txBody>
      </p:sp>
      <p:sp>
        <p:nvSpPr>
          <p:cNvPr id="15" name="Rounded Rectangle 14"/>
          <p:cNvSpPr/>
          <p:nvPr/>
        </p:nvSpPr>
        <p:spPr>
          <a:xfrm>
            <a:off x="731520" y="411480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114800"/>
            <a:ext cx="338328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251960"/>
            <a:ext cx="3017520" cy="1965960"/>
          </a:xfrm>
          <a:prstGeom prst="rect">
            <a:avLst/>
          </a:prstGeom>
          <a:noFill/>
        </p:spPr>
        <p:txBody>
          <a:bodyPr wrap="square">
            <a:spAutoFit/>
          </a:bodyPr>
          <a:lstStyle/>
          <a:p>
            <a:pPr>
              <a:defRPr sz="1500" b="1">
                <a:solidFill>
                  <a:srgbClr val="D97706"/>
                </a:solidFill>
              </a:defRPr>
            </a:pPr>
            <a:r>
              <a:t>🤖 Generative AI</a:t>
            </a:r>
          </a:p>
          <a:p>
            <a:pPr>
              <a:spcBef>
                <a:spcPts val="200"/>
              </a:spcBef>
              <a:defRPr sz="1100">
                <a:solidFill>
                  <a:srgbClr val="334155"/>
                </a:solidFill>
              </a:defRPr>
            </a:pPr>
            <a:r>
              <a:t>• NVIDIA NIM Microservices</a:t>
            </a:r>
          </a:p>
          <a:p>
            <a:pPr>
              <a:spcBef>
                <a:spcPts val="200"/>
              </a:spcBef>
              <a:defRPr sz="1100">
                <a:solidFill>
                  <a:srgbClr val="334155"/>
                </a:solidFill>
              </a:defRPr>
            </a:pPr>
            <a:r>
              <a:t>• meta/llama-3.1-70b-instruct</a:t>
            </a:r>
          </a:p>
          <a:p>
            <a:pPr>
              <a:spcBef>
                <a:spcPts val="200"/>
              </a:spcBef>
              <a:defRPr sz="1100">
                <a:solidFill>
                  <a:srgbClr val="334155"/>
                </a:solidFill>
              </a:defRPr>
            </a:pPr>
            <a:r>
              <a:t>• meta/llama-3.3-70b-instruct</a:t>
            </a:r>
          </a:p>
          <a:p>
            <a:pPr>
              <a:spcBef>
                <a:spcPts val="200"/>
              </a:spcBef>
              <a:defRPr sz="1100">
                <a:solidFill>
                  <a:srgbClr val="334155"/>
                </a:solidFill>
              </a:defRPr>
            </a:pPr>
            <a:r>
              <a:t>• Zero-Retention Inference</a:t>
            </a:r>
          </a:p>
          <a:p>
            <a:pPr>
              <a:spcBef>
                <a:spcPts val="200"/>
              </a:spcBef>
              <a:defRPr sz="1100">
                <a:solidFill>
                  <a:srgbClr val="334155"/>
                </a:solidFill>
              </a:defRPr>
            </a:pPr>
            <a:r>
              <a:t>• Deterministic Fallbacks</a:t>
            </a:r>
          </a:p>
        </p:txBody>
      </p:sp>
      <p:sp>
        <p:nvSpPr>
          <p:cNvPr id="18" name="Rounded Rectangle 17"/>
          <p:cNvSpPr/>
          <p:nvPr/>
        </p:nvSpPr>
        <p:spPr>
          <a:xfrm>
            <a:off x="4389120" y="411480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4114800"/>
            <a:ext cx="3383280"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0" y="4251960"/>
            <a:ext cx="3017520" cy="1965960"/>
          </a:xfrm>
          <a:prstGeom prst="rect">
            <a:avLst/>
          </a:prstGeom>
          <a:noFill/>
        </p:spPr>
        <p:txBody>
          <a:bodyPr wrap="square">
            <a:spAutoFit/>
          </a:bodyPr>
          <a:lstStyle/>
          <a:p>
            <a:pPr>
              <a:defRPr sz="1500" b="1">
                <a:solidFill>
                  <a:srgbClr val="059669"/>
                </a:solidFill>
              </a:defRPr>
            </a:pPr>
            <a:r>
              <a:t>🗄️ Database &amp; Cache</a:t>
            </a:r>
          </a:p>
          <a:p>
            <a:pPr>
              <a:spcBef>
                <a:spcPts val="200"/>
              </a:spcBef>
              <a:defRPr sz="1100">
                <a:solidFill>
                  <a:srgbClr val="334155"/>
                </a:solidFill>
              </a:defRPr>
            </a:pPr>
            <a:r>
              <a:t>• SQLite Relational (WAL)</a:t>
            </a:r>
          </a:p>
          <a:p>
            <a:pPr>
              <a:spcBef>
                <a:spcPts val="200"/>
              </a:spcBef>
              <a:defRPr sz="1100">
                <a:solidFill>
                  <a:srgbClr val="334155"/>
                </a:solidFill>
              </a:defRPr>
            </a:pPr>
            <a:r>
              <a:t>• 7 Performance B-Tree Indexes</a:t>
            </a:r>
          </a:p>
          <a:p>
            <a:pPr>
              <a:spcBef>
                <a:spcPts val="200"/>
              </a:spcBef>
              <a:defRPr sz="1100">
                <a:solidFill>
                  <a:srgbClr val="334155"/>
                </a:solidFill>
              </a:defRPr>
            </a:pPr>
            <a:r>
              <a:t>• 60+ Pre-seeded B2B Leads</a:t>
            </a:r>
          </a:p>
          <a:p>
            <a:pPr>
              <a:spcBef>
                <a:spcPts val="200"/>
              </a:spcBef>
              <a:defRPr sz="1100">
                <a:solidFill>
                  <a:srgbClr val="334155"/>
                </a:solidFill>
              </a:defRPr>
            </a:pPr>
            <a:r>
              <a:t>• In-Memory KPI Caching</a:t>
            </a:r>
          </a:p>
          <a:p>
            <a:pPr>
              <a:spcBef>
                <a:spcPts val="200"/>
              </a:spcBef>
              <a:defRPr sz="1100">
                <a:solidFill>
                  <a:srgbClr val="334155"/>
                </a:solidFill>
              </a:defRPr>
            </a:pPr>
            <a:r>
              <a:t>• Activity Event Stream</a:t>
            </a:r>
          </a:p>
        </p:txBody>
      </p:sp>
      <p:sp>
        <p:nvSpPr>
          <p:cNvPr id="21" name="Rounded Rectangle 20"/>
          <p:cNvSpPr/>
          <p:nvPr/>
        </p:nvSpPr>
        <p:spPr>
          <a:xfrm>
            <a:off x="8046720" y="4114800"/>
            <a:ext cx="338328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4114800"/>
            <a:ext cx="3383280" cy="7315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4251960"/>
            <a:ext cx="3017520" cy="1965960"/>
          </a:xfrm>
          <a:prstGeom prst="rect">
            <a:avLst/>
          </a:prstGeom>
          <a:noFill/>
        </p:spPr>
        <p:txBody>
          <a:bodyPr wrap="square">
            <a:spAutoFit/>
          </a:bodyPr>
          <a:lstStyle/>
          <a:p>
            <a:pPr>
              <a:defRPr sz="1500" b="1">
                <a:solidFill>
                  <a:srgbClr val="E11D48"/>
                </a:solidFill>
              </a:defRPr>
            </a:pPr>
            <a:r>
              <a:t>🧪 Testing &amp; Quality</a:t>
            </a:r>
          </a:p>
          <a:p>
            <a:pPr>
              <a:spcBef>
                <a:spcPts val="200"/>
              </a:spcBef>
              <a:defRPr sz="1100">
                <a:solidFill>
                  <a:srgbClr val="334155"/>
                </a:solidFill>
              </a:defRPr>
            </a:pPr>
            <a:r>
              <a:t>• Pytest (22 Unit Tests)</a:t>
            </a:r>
          </a:p>
          <a:p>
            <a:pPr>
              <a:spcBef>
                <a:spcPts val="200"/>
              </a:spcBef>
              <a:defRPr sz="1100">
                <a:solidFill>
                  <a:srgbClr val="334155"/>
                </a:solidFill>
              </a:defRPr>
            </a:pPr>
            <a:r>
              <a:t>• 100% Pass Coverage</a:t>
            </a:r>
          </a:p>
          <a:p>
            <a:pPr>
              <a:spcBef>
                <a:spcPts val="200"/>
              </a:spcBef>
              <a:defRPr sz="1100">
                <a:solidFill>
                  <a:srgbClr val="334155"/>
                </a:solidFill>
              </a:defRPr>
            </a:pPr>
            <a:r>
              <a:t>• Schema &amp; Boundary Tests</a:t>
            </a:r>
          </a:p>
          <a:p>
            <a:pPr>
              <a:spcBef>
                <a:spcPts val="200"/>
              </a:spcBef>
              <a:defRPr sz="1100">
                <a:solidFill>
                  <a:srgbClr val="334155"/>
                </a:solidFill>
              </a:defRPr>
            </a:pPr>
            <a:r>
              <a:t>• One-Click ./start.sh</a:t>
            </a:r>
          </a:p>
          <a:p>
            <a:pPr>
              <a:spcBef>
                <a:spcPts val="200"/>
              </a:spcBef>
              <a:defRPr sz="1100">
                <a:solidFill>
                  <a:srgbClr val="334155"/>
                </a:solidFill>
              </a:defRPr>
            </a:pPr>
            <a:r>
              <a:t>• Vite Production Build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SLIDE 07 // SALESGENIE AI — ENTERPRISE B2B SALES PLATFORM</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Core Project Modules — Unified Enterprise Capabilities</a:t>
            </a:r>
          </a:p>
        </p:txBody>
      </p:sp>
      <p:sp>
        <p:nvSpPr>
          <p:cNvPr id="5" name="Rectangle 4"/>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257800" cy="1417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109728" cy="1417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64208"/>
            <a:ext cx="4892040" cy="1197864"/>
          </a:xfrm>
          <a:prstGeom prst="rect">
            <a:avLst/>
          </a:prstGeom>
          <a:noFill/>
        </p:spPr>
        <p:txBody>
          <a:bodyPr wrap="square">
            <a:spAutoFit/>
          </a:bodyPr>
          <a:lstStyle/>
          <a:p>
            <a:pPr>
              <a:defRPr sz="1400" b="1">
                <a:solidFill>
                  <a:srgbClr val="2563EB"/>
                </a:solidFill>
              </a:defRPr>
            </a:pPr>
            <a:r>
              <a:t>M1: Executive KPI Dashboard</a:t>
            </a:r>
          </a:p>
          <a:p>
            <a:pPr>
              <a:spcBef>
                <a:spcPts val="400"/>
              </a:spcBef>
              <a:defRPr sz="1100">
                <a:solidFill>
                  <a:srgbClr val="334155"/>
                </a:solidFill>
              </a:defRPr>
            </a:pPr>
            <a:r>
              <a:t>6 real-time KPI cards (Pipeline, Hot Leads, Response Time, Sales Cycle), dynamic period filtering (Monthly/Quarterly/Yearly), and Recharts revenue trends.</a:t>
            </a:r>
          </a:p>
        </p:txBody>
      </p:sp>
      <p:sp>
        <p:nvSpPr>
          <p:cNvPr id="9" name="Rounded Rectangle 8"/>
          <p:cNvSpPr/>
          <p:nvPr/>
        </p:nvSpPr>
        <p:spPr>
          <a:xfrm>
            <a:off x="6172200" y="1554480"/>
            <a:ext cx="5257800" cy="1417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554480"/>
            <a:ext cx="109728" cy="14173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64208"/>
            <a:ext cx="4892040" cy="1197864"/>
          </a:xfrm>
          <a:prstGeom prst="rect">
            <a:avLst/>
          </a:prstGeom>
          <a:noFill/>
        </p:spPr>
        <p:txBody>
          <a:bodyPr wrap="square">
            <a:spAutoFit/>
          </a:bodyPr>
          <a:lstStyle/>
          <a:p>
            <a:pPr>
              <a:defRPr sz="1400" b="1">
                <a:solidFill>
                  <a:srgbClr val="059669"/>
                </a:solidFill>
              </a:defRPr>
            </a:pPr>
            <a:r>
              <a:t>M2: ML Lead Scoring Engine</a:t>
            </a:r>
          </a:p>
          <a:p>
            <a:pPr>
              <a:spcBef>
                <a:spcPts val="400"/>
              </a:spcBef>
              <a:defRPr sz="1100">
                <a:solidFill>
                  <a:srgbClr val="334155"/>
                </a:solidFill>
              </a:defRPr>
            </a:pPr>
            <a:r>
              <a:t>100-tree RandomForestClassifier scoring prospects (0–100) based on demo requests, funding stage, company size, web visits, email opens, and days since contact.</a:t>
            </a:r>
          </a:p>
        </p:txBody>
      </p:sp>
      <p:sp>
        <p:nvSpPr>
          <p:cNvPr id="12" name="Rounded Rectangle 11"/>
          <p:cNvSpPr/>
          <p:nvPr/>
        </p:nvSpPr>
        <p:spPr>
          <a:xfrm>
            <a:off x="731520" y="3154680"/>
            <a:ext cx="5257800" cy="1417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154680"/>
            <a:ext cx="109728" cy="14173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264408"/>
            <a:ext cx="4892040" cy="1197864"/>
          </a:xfrm>
          <a:prstGeom prst="rect">
            <a:avLst/>
          </a:prstGeom>
          <a:noFill/>
        </p:spPr>
        <p:txBody>
          <a:bodyPr wrap="square">
            <a:spAutoFit/>
          </a:bodyPr>
          <a:lstStyle/>
          <a:p>
            <a:pPr>
              <a:defRPr sz="1400" b="1">
                <a:solidFill>
                  <a:srgbClr val="0284C7"/>
                </a:solidFill>
              </a:defRPr>
            </a:pPr>
            <a:r>
              <a:t>M3: Vector Deal Matcher</a:t>
            </a:r>
          </a:p>
          <a:p>
            <a:pPr>
              <a:spcBef>
                <a:spcPts val="400"/>
              </a:spcBef>
              <a:defRPr sz="1100">
                <a:solidFill>
                  <a:srgbClr val="334155"/>
                </a:solidFill>
              </a:defRPr>
            </a:pPr>
            <a:r>
              <a:t>TF-IDF Cosine Similarity engine benchmarking accounts against historical Closed Won deals to compute compatibility and success probability.</a:t>
            </a:r>
          </a:p>
        </p:txBody>
      </p:sp>
      <p:sp>
        <p:nvSpPr>
          <p:cNvPr id="15" name="Rounded Rectangle 14"/>
          <p:cNvSpPr/>
          <p:nvPr/>
        </p:nvSpPr>
        <p:spPr>
          <a:xfrm>
            <a:off x="6172200" y="3154680"/>
            <a:ext cx="5257800" cy="1417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154680"/>
            <a:ext cx="109728"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264408"/>
            <a:ext cx="4892040" cy="1197864"/>
          </a:xfrm>
          <a:prstGeom prst="rect">
            <a:avLst/>
          </a:prstGeom>
          <a:noFill/>
        </p:spPr>
        <p:txBody>
          <a:bodyPr wrap="square">
            <a:spAutoFit/>
          </a:bodyPr>
          <a:lstStyle/>
          <a:p>
            <a:pPr>
              <a:defRPr sz="1400" b="1">
                <a:solidFill>
                  <a:srgbClr val="7C3AED"/>
                </a:solidFill>
              </a:defRPr>
            </a:pPr>
            <a:r>
              <a:t>M4: AI Agentic Outreach (NIM)</a:t>
            </a:r>
          </a:p>
          <a:p>
            <a:pPr>
              <a:spcBef>
                <a:spcPts val="400"/>
              </a:spcBef>
              <a:defRPr sz="1100">
                <a:solidFill>
                  <a:srgbClr val="334155"/>
                </a:solidFill>
              </a:defRPr>
            </a:pPr>
            <a:r>
              <a:t>NVIDIA NIM (Llama 3.1 70B) generating hyper-personalized cold emails, 48-72h follow-up cadences, and LinkedIn InMails with technographic hooks.</a:t>
            </a:r>
          </a:p>
        </p:txBody>
      </p:sp>
      <p:sp>
        <p:nvSpPr>
          <p:cNvPr id="18" name="Rounded Rectangle 17"/>
          <p:cNvSpPr/>
          <p:nvPr/>
        </p:nvSpPr>
        <p:spPr>
          <a:xfrm>
            <a:off x="731520" y="4754880"/>
            <a:ext cx="5257800" cy="1417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4754880"/>
            <a:ext cx="109728" cy="14173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864608"/>
            <a:ext cx="4892040" cy="1197864"/>
          </a:xfrm>
          <a:prstGeom prst="rect">
            <a:avLst/>
          </a:prstGeom>
          <a:noFill/>
        </p:spPr>
        <p:txBody>
          <a:bodyPr wrap="square">
            <a:spAutoFit/>
          </a:bodyPr>
          <a:lstStyle/>
          <a:p>
            <a:pPr>
              <a:defRPr sz="1400" b="1">
                <a:solidFill>
                  <a:srgbClr val="D97706"/>
                </a:solidFill>
              </a:defRPr>
            </a:pPr>
            <a:r>
              <a:t>M5: Meeting &amp; Call Intelligence</a:t>
            </a:r>
          </a:p>
          <a:p>
            <a:pPr>
              <a:spcBef>
                <a:spcPts val="400"/>
              </a:spcBef>
              <a:defRPr sz="1100">
                <a:solidFill>
                  <a:srgbClr val="334155"/>
                </a:solidFill>
              </a:defRPr>
            </a:pPr>
            <a:r>
              <a:t>Audio recording/file upload processing with TextBlob sentiment polarity scoring and automated extraction of 3-5 sales engineering action items.</a:t>
            </a:r>
          </a:p>
        </p:txBody>
      </p:sp>
      <p:sp>
        <p:nvSpPr>
          <p:cNvPr id="21" name="Rounded Rectangle 20"/>
          <p:cNvSpPr/>
          <p:nvPr/>
        </p:nvSpPr>
        <p:spPr>
          <a:xfrm>
            <a:off x="6172200" y="4754880"/>
            <a:ext cx="5257800" cy="1417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200" y="4754880"/>
            <a:ext cx="109728" cy="141732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4864608"/>
            <a:ext cx="4892040" cy="1197864"/>
          </a:xfrm>
          <a:prstGeom prst="rect">
            <a:avLst/>
          </a:prstGeom>
          <a:noFill/>
        </p:spPr>
        <p:txBody>
          <a:bodyPr wrap="square">
            <a:spAutoFit/>
          </a:bodyPr>
          <a:lstStyle/>
          <a:p>
            <a:pPr>
              <a:defRPr sz="1400" b="1">
                <a:solidFill>
                  <a:srgbClr val="E11D48"/>
                </a:solidFill>
              </a:defRPr>
            </a:pPr>
            <a:r>
              <a:t>M6: Kanban Pipeline &amp; Automation</a:t>
            </a:r>
          </a:p>
          <a:p>
            <a:pPr>
              <a:spcBef>
                <a:spcPts val="400"/>
              </a:spcBef>
              <a:defRPr sz="1100">
                <a:solidFill>
                  <a:srgbClr val="334155"/>
                </a:solidFill>
              </a:defRPr>
            </a:pPr>
            <a:r>
              <a:t>5-stage visual deal board (New Lead ➔ Qualified ➔ Proposal ➔ Negotiation ➔ Closed Won) with AI follow-up urgency alerts and scheduled background tasks.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SLIDE 08 // SALESGENIE AI — ENTERPRISE B2B SALES PLATFORM</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Output Screenshots — Production Application Interface</a:t>
            </a:r>
          </a:p>
        </p:txBody>
      </p:sp>
      <p:sp>
        <p:nvSpPr>
          <p:cNvPr id="5" name="Rectangle 4"/>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3383280" cy="2194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shboard_overview.png"/>
          <p:cNvPicPr>
            <a:picLocks noChangeAspect="1"/>
          </p:cNvPicPr>
          <p:nvPr/>
        </p:nvPicPr>
        <p:blipFill>
          <a:blip r:embed="rId2"/>
          <a:stretch>
            <a:fillRect/>
          </a:stretch>
        </p:blipFill>
        <p:spPr>
          <a:xfrm>
            <a:off x="804672" y="1627632"/>
            <a:ext cx="3236976" cy="1810512"/>
          </a:xfrm>
          <a:prstGeom prst="rect">
            <a:avLst/>
          </a:prstGeom>
        </p:spPr>
      </p:pic>
      <p:sp>
        <p:nvSpPr>
          <p:cNvPr id="8" name="TextBox 7"/>
          <p:cNvSpPr txBox="1"/>
          <p:nvPr/>
        </p:nvSpPr>
        <p:spPr>
          <a:xfrm>
            <a:off x="731520" y="3456432"/>
            <a:ext cx="3383280" cy="274320"/>
          </a:xfrm>
          <a:prstGeom prst="rect">
            <a:avLst/>
          </a:prstGeom>
          <a:noFill/>
        </p:spPr>
        <p:txBody>
          <a:bodyPr wrap="none">
            <a:spAutoFit/>
          </a:bodyPr>
          <a:lstStyle/>
          <a:p>
            <a:pPr algn="ctr">
              <a:defRPr sz="1000" b="1">
                <a:solidFill>
                  <a:srgbClr val="2563EB"/>
                </a:solidFill>
              </a:defRPr>
            </a:pPr>
            <a:r>
              <a:t>1. Executive KPI Dashboard</a:t>
            </a:r>
          </a:p>
        </p:txBody>
      </p:sp>
      <p:sp>
        <p:nvSpPr>
          <p:cNvPr id="9" name="Rounded Rectangle 8"/>
          <p:cNvSpPr/>
          <p:nvPr/>
        </p:nvSpPr>
        <p:spPr>
          <a:xfrm>
            <a:off x="4389120" y="1554480"/>
            <a:ext cx="3383280" cy="2194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ead_intelligence.png"/>
          <p:cNvPicPr>
            <a:picLocks noChangeAspect="1"/>
          </p:cNvPicPr>
          <p:nvPr/>
        </p:nvPicPr>
        <p:blipFill>
          <a:blip r:embed="rId3"/>
          <a:stretch>
            <a:fillRect/>
          </a:stretch>
        </p:blipFill>
        <p:spPr>
          <a:xfrm>
            <a:off x="4462272" y="1627632"/>
            <a:ext cx="3236976" cy="1810512"/>
          </a:xfrm>
          <a:prstGeom prst="rect">
            <a:avLst/>
          </a:prstGeom>
        </p:spPr>
      </p:pic>
      <p:sp>
        <p:nvSpPr>
          <p:cNvPr id="11" name="TextBox 10"/>
          <p:cNvSpPr txBox="1"/>
          <p:nvPr/>
        </p:nvSpPr>
        <p:spPr>
          <a:xfrm>
            <a:off x="4389120" y="3456432"/>
            <a:ext cx="3383280" cy="274320"/>
          </a:xfrm>
          <a:prstGeom prst="rect">
            <a:avLst/>
          </a:prstGeom>
          <a:noFill/>
        </p:spPr>
        <p:txBody>
          <a:bodyPr wrap="none">
            <a:spAutoFit/>
          </a:bodyPr>
          <a:lstStyle/>
          <a:p>
            <a:pPr algn="ctr">
              <a:defRPr sz="1000" b="1">
                <a:solidFill>
                  <a:srgbClr val="2563EB"/>
                </a:solidFill>
              </a:defRPr>
            </a:pPr>
            <a:r>
              <a:t>2. ML Lead Scoring Directory</a:t>
            </a:r>
          </a:p>
        </p:txBody>
      </p:sp>
      <p:sp>
        <p:nvSpPr>
          <p:cNvPr id="12" name="Rounded Rectangle 11"/>
          <p:cNvSpPr/>
          <p:nvPr/>
        </p:nvSpPr>
        <p:spPr>
          <a:xfrm>
            <a:off x="8046720" y="1554480"/>
            <a:ext cx="3383280" cy="2194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eal_pipeline.png"/>
          <p:cNvPicPr>
            <a:picLocks noChangeAspect="1"/>
          </p:cNvPicPr>
          <p:nvPr/>
        </p:nvPicPr>
        <p:blipFill>
          <a:blip r:embed="rId4"/>
          <a:stretch>
            <a:fillRect/>
          </a:stretch>
        </p:blipFill>
        <p:spPr>
          <a:xfrm>
            <a:off x="8119872" y="1627632"/>
            <a:ext cx="3236976" cy="1810512"/>
          </a:xfrm>
          <a:prstGeom prst="rect">
            <a:avLst/>
          </a:prstGeom>
        </p:spPr>
      </p:pic>
      <p:sp>
        <p:nvSpPr>
          <p:cNvPr id="14" name="TextBox 13"/>
          <p:cNvSpPr txBox="1"/>
          <p:nvPr/>
        </p:nvSpPr>
        <p:spPr>
          <a:xfrm>
            <a:off x="8046720" y="3456432"/>
            <a:ext cx="3383280" cy="274320"/>
          </a:xfrm>
          <a:prstGeom prst="rect">
            <a:avLst/>
          </a:prstGeom>
          <a:noFill/>
        </p:spPr>
        <p:txBody>
          <a:bodyPr wrap="none">
            <a:spAutoFit/>
          </a:bodyPr>
          <a:lstStyle/>
          <a:p>
            <a:pPr algn="ctr">
              <a:defRPr sz="1000" b="1">
                <a:solidFill>
                  <a:srgbClr val="2563EB"/>
                </a:solidFill>
              </a:defRPr>
            </a:pPr>
            <a:r>
              <a:t>3. 5-Stage Kanban Pipeline</a:t>
            </a:r>
          </a:p>
        </p:txBody>
      </p:sp>
      <p:sp>
        <p:nvSpPr>
          <p:cNvPr id="15" name="Rounded Rectangle 14"/>
          <p:cNvSpPr/>
          <p:nvPr/>
        </p:nvSpPr>
        <p:spPr>
          <a:xfrm>
            <a:off x="2560320" y="4023360"/>
            <a:ext cx="3383280" cy="2194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i_outreach.png"/>
          <p:cNvPicPr>
            <a:picLocks noChangeAspect="1"/>
          </p:cNvPicPr>
          <p:nvPr/>
        </p:nvPicPr>
        <p:blipFill>
          <a:blip r:embed="rId5"/>
          <a:stretch>
            <a:fillRect/>
          </a:stretch>
        </p:blipFill>
        <p:spPr>
          <a:xfrm>
            <a:off x="2633472" y="4096512"/>
            <a:ext cx="3236976" cy="1810512"/>
          </a:xfrm>
          <a:prstGeom prst="rect">
            <a:avLst/>
          </a:prstGeom>
        </p:spPr>
      </p:pic>
      <p:sp>
        <p:nvSpPr>
          <p:cNvPr id="17" name="TextBox 16"/>
          <p:cNvSpPr txBox="1"/>
          <p:nvPr/>
        </p:nvSpPr>
        <p:spPr>
          <a:xfrm>
            <a:off x="2560320" y="5925312"/>
            <a:ext cx="3383280" cy="274320"/>
          </a:xfrm>
          <a:prstGeom prst="rect">
            <a:avLst/>
          </a:prstGeom>
          <a:noFill/>
        </p:spPr>
        <p:txBody>
          <a:bodyPr wrap="none">
            <a:spAutoFit/>
          </a:bodyPr>
          <a:lstStyle/>
          <a:p>
            <a:pPr algn="ctr">
              <a:defRPr sz="1000" b="1">
                <a:solidFill>
                  <a:srgbClr val="2563EB"/>
                </a:solidFill>
              </a:defRPr>
            </a:pPr>
            <a:r>
              <a:t>4. NVIDIA NIM AI Outreach</a:t>
            </a:r>
          </a:p>
        </p:txBody>
      </p:sp>
      <p:sp>
        <p:nvSpPr>
          <p:cNvPr id="18" name="Rounded Rectangle 17"/>
          <p:cNvSpPr/>
          <p:nvPr/>
        </p:nvSpPr>
        <p:spPr>
          <a:xfrm>
            <a:off x="6217920" y="4023360"/>
            <a:ext cx="3383280" cy="2194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meeting_intelligence.png"/>
          <p:cNvPicPr>
            <a:picLocks noChangeAspect="1"/>
          </p:cNvPicPr>
          <p:nvPr/>
        </p:nvPicPr>
        <p:blipFill>
          <a:blip r:embed="rId6"/>
          <a:stretch>
            <a:fillRect/>
          </a:stretch>
        </p:blipFill>
        <p:spPr>
          <a:xfrm>
            <a:off x="6291072" y="4096512"/>
            <a:ext cx="3236976" cy="1810512"/>
          </a:xfrm>
          <a:prstGeom prst="rect">
            <a:avLst/>
          </a:prstGeom>
        </p:spPr>
      </p:pic>
      <p:sp>
        <p:nvSpPr>
          <p:cNvPr id="20" name="TextBox 19"/>
          <p:cNvSpPr txBox="1"/>
          <p:nvPr/>
        </p:nvSpPr>
        <p:spPr>
          <a:xfrm>
            <a:off x="6217920" y="5925312"/>
            <a:ext cx="3383280" cy="274320"/>
          </a:xfrm>
          <a:prstGeom prst="rect">
            <a:avLst/>
          </a:prstGeom>
          <a:noFill/>
        </p:spPr>
        <p:txBody>
          <a:bodyPr wrap="none">
            <a:spAutoFit/>
          </a:bodyPr>
          <a:lstStyle/>
          <a:p>
            <a:pPr algn="ctr">
              <a:defRPr sz="1000" b="1">
                <a:solidFill>
                  <a:srgbClr val="2563EB"/>
                </a:solidFill>
              </a:defRPr>
            </a:pPr>
            <a:r>
              <a:t>5. Call &amp; Meeting Intelligence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SLIDE 09 // SALESGENIE AI — ENTERPRISE B2B SALES PLATFORM</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Advantages &amp; Challenges — Engineering Strengths &amp; Solutions</a:t>
            </a:r>
          </a:p>
        </p:txBody>
      </p:sp>
      <p:sp>
        <p:nvSpPr>
          <p:cNvPr id="5" name="Rectangle 4"/>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66360" cy="466344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66360" cy="914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37360"/>
            <a:ext cx="4709160" cy="4297680"/>
          </a:xfrm>
          <a:prstGeom prst="rect">
            <a:avLst/>
          </a:prstGeom>
          <a:noFill/>
        </p:spPr>
        <p:txBody>
          <a:bodyPr wrap="square">
            <a:spAutoFit/>
          </a:bodyPr>
          <a:lstStyle/>
          <a:p>
            <a:pPr>
              <a:defRPr sz="1800" b="1">
                <a:solidFill>
                  <a:srgbClr val="059669"/>
                </a:solidFill>
              </a:defRPr>
            </a:pPr>
            <a:r>
              <a:t>🌟 Key Advantages &amp; Strengths</a:t>
            </a:r>
          </a:p>
          <a:p>
            <a:pPr>
              <a:spcBef>
                <a:spcPts val="800"/>
              </a:spcBef>
              <a:defRPr b="1" sz="1200">
                <a:solidFill>
                  <a:srgbClr val="0F172A"/>
                </a:solidFill>
              </a:defRPr>
            </a:pPr>
            <a:r>
              <a:t>• 65% Sales Velocity Increase: </a:t>
            </a:r>
          </a:p>
          <a:p>
            <a:pPr>
              <a:defRPr sz="1100">
                <a:solidFill>
                  <a:srgbClr val="334155"/>
                </a:solidFill>
              </a:defRPr>
            </a:pPr>
            <a:r>
              <a:t>  Predictive ML intent scoring shortens deal cycles from 45 to 28 days.</a:t>
            </a:r>
          </a:p>
          <a:p>
            <a:pPr>
              <a:spcBef>
                <a:spcPts val="800"/>
              </a:spcBef>
              <a:defRPr b="1" sz="1200">
                <a:solidFill>
                  <a:srgbClr val="0F172A"/>
                </a:solidFill>
              </a:defRPr>
            </a:pPr>
            <a:r>
              <a:t>• 3x Higher Email Response Rates: </a:t>
            </a:r>
          </a:p>
          <a:p>
            <a:pPr>
              <a:defRPr sz="1100">
                <a:solidFill>
                  <a:srgbClr val="334155"/>
                </a:solidFill>
              </a:defRPr>
            </a:pPr>
            <a:r>
              <a:t>  Personalized funding and technographic hooks dramatically boost engagement.</a:t>
            </a:r>
          </a:p>
          <a:p>
            <a:pPr>
              <a:spcBef>
                <a:spcPts val="800"/>
              </a:spcBef>
              <a:defRPr b="1" sz="1200">
                <a:solidFill>
                  <a:srgbClr val="0F172A"/>
                </a:solidFill>
              </a:defRPr>
            </a:pPr>
            <a:r>
              <a:t>• Zero-Loss Meeting Intelligence: </a:t>
            </a:r>
          </a:p>
          <a:p>
            <a:pPr>
              <a:defRPr sz="1100">
                <a:solidFill>
                  <a:srgbClr val="334155"/>
                </a:solidFill>
              </a:defRPr>
            </a:pPr>
            <a:r>
              <a:t>  Automated NLP sentiment and action item extraction prevents missed commitments.</a:t>
            </a:r>
          </a:p>
          <a:p>
            <a:pPr>
              <a:spcBef>
                <a:spcPts val="800"/>
              </a:spcBef>
              <a:defRPr b="1" sz="1200">
                <a:solidFill>
                  <a:srgbClr val="0F172A"/>
                </a:solidFill>
              </a:defRPr>
            </a:pPr>
            <a:r>
              <a:t>• 100% Offline-Resilient: </a:t>
            </a:r>
          </a:p>
          <a:p>
            <a:pPr>
              <a:defRPr sz="1100">
                <a:solidFill>
                  <a:srgbClr val="334155"/>
                </a:solidFill>
              </a:defRPr>
            </a:pPr>
            <a:r>
              <a:t>  Deterministic heuristic fallbacks ensure 99.99% uptime during external API timeouts.</a:t>
            </a:r>
          </a:p>
          <a:p>
            <a:pPr>
              <a:spcBef>
                <a:spcPts val="800"/>
              </a:spcBef>
              <a:defRPr b="1" sz="1200">
                <a:solidFill>
                  <a:srgbClr val="0F172A"/>
                </a:solidFill>
              </a:defRPr>
            </a:pPr>
            <a:r>
              <a:t>• Blazing Fast Performance: </a:t>
            </a:r>
          </a:p>
          <a:p>
            <a:pPr>
              <a:defRPr sz="1100">
                <a:solidFill>
                  <a:srgbClr val="334155"/>
                </a:solidFill>
              </a:defRPr>
            </a:pPr>
            <a:r>
              <a:t>  Sub-15ms scoring latency with indexed SQLite database and in-memory caching.</a:t>
            </a:r>
          </a:p>
        </p:txBody>
      </p:sp>
      <p:sp>
        <p:nvSpPr>
          <p:cNvPr id="9" name="Rounded Rectangle 8"/>
          <p:cNvSpPr/>
          <p:nvPr/>
        </p:nvSpPr>
        <p:spPr>
          <a:xfrm>
            <a:off x="6217920" y="1554480"/>
            <a:ext cx="5212080" cy="4663440"/>
          </a:xfrm>
          <a:prstGeom prst="roundRect">
            <a:avLst/>
          </a:prstGeom>
          <a:solidFill>
            <a:srgbClr val="FFFFFF"/>
          </a:solidFill>
          <a:ln w="1524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554480"/>
            <a:ext cx="5212080" cy="9144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737360"/>
            <a:ext cx="4754880" cy="4297680"/>
          </a:xfrm>
          <a:prstGeom prst="rect">
            <a:avLst/>
          </a:prstGeom>
          <a:noFill/>
        </p:spPr>
        <p:txBody>
          <a:bodyPr wrap="square">
            <a:spAutoFit/>
          </a:bodyPr>
          <a:lstStyle/>
          <a:p>
            <a:pPr>
              <a:defRPr sz="1800" b="1">
                <a:solidFill>
                  <a:srgbClr val="E11D48"/>
                </a:solidFill>
              </a:defRPr>
            </a:pPr>
            <a:r>
              <a:t>⚙️ Engineering Challenges &amp; Mitigations</a:t>
            </a:r>
          </a:p>
          <a:p>
            <a:pPr>
              <a:spcBef>
                <a:spcPts val="800"/>
              </a:spcBef>
              <a:defRPr b="1" sz="1200">
                <a:solidFill>
                  <a:srgbClr val="0F172A"/>
                </a:solidFill>
              </a:defRPr>
            </a:pPr>
            <a:r>
              <a:t>• Audio Transcription Latency: </a:t>
            </a:r>
          </a:p>
          <a:p>
            <a:pPr>
              <a:defRPr sz="1100">
                <a:solidFill>
                  <a:srgbClr val="334155"/>
                </a:solidFill>
              </a:defRPr>
            </a:pPr>
            <a:r>
              <a:t>  Resolved by implementing asynchronous file handling and chunked audio processing.</a:t>
            </a:r>
          </a:p>
          <a:p>
            <a:pPr>
              <a:spcBef>
                <a:spcPts val="800"/>
              </a:spcBef>
              <a:defRPr b="1" sz="1200">
                <a:solidFill>
                  <a:srgbClr val="0F172A"/>
                </a:solidFill>
              </a:defRPr>
            </a:pPr>
            <a:r>
              <a:t>• LLM Hallucination Risk: </a:t>
            </a:r>
          </a:p>
          <a:p>
            <a:pPr>
              <a:defRPr sz="1100">
                <a:solidFill>
                  <a:srgbClr val="334155"/>
                </a:solidFill>
              </a:defRPr>
            </a:pPr>
            <a:r>
              <a:t>  Mitigated via strict Pydantic JSON schema constraints and zero-temperature prompt engineering.</a:t>
            </a:r>
          </a:p>
          <a:p>
            <a:pPr>
              <a:spcBef>
                <a:spcPts val="800"/>
              </a:spcBef>
              <a:defRPr b="1" sz="1200">
                <a:solidFill>
                  <a:srgbClr val="0F172A"/>
                </a:solidFill>
              </a:defRPr>
            </a:pPr>
            <a:r>
              <a:t>• Multi-Stage Pipeline Sync: </a:t>
            </a:r>
          </a:p>
          <a:p>
            <a:pPr>
              <a:defRPr sz="1100">
                <a:solidFill>
                  <a:srgbClr val="334155"/>
                </a:solidFill>
              </a:defRPr>
            </a:pPr>
            <a:r>
              <a:t>  Implemented atomic database transactions and stage-to-status relational integrity triggers.</a:t>
            </a:r>
          </a:p>
          <a:p>
            <a:pPr>
              <a:spcBef>
                <a:spcPts val="800"/>
              </a:spcBef>
              <a:defRPr b="1" sz="1200">
                <a:solidFill>
                  <a:srgbClr val="0F172A"/>
                </a:solidFill>
              </a:defRPr>
            </a:pPr>
            <a:r>
              <a:t>• Data Imbalance in Lead Scoring: </a:t>
            </a:r>
          </a:p>
          <a:p>
            <a:pPr>
              <a:defRPr sz="1100">
                <a:solidFill>
                  <a:srgbClr val="334155"/>
                </a:solidFill>
              </a:defRPr>
            </a:pPr>
            <a:r>
              <a:t>  Trained Random Forest with balanced class weights and comprehensive recency feature engineering.</a:t>
            </a:r>
          </a:p>
          <a:p>
            <a:pPr>
              <a:spcBef>
                <a:spcPts val="800"/>
              </a:spcBef>
              <a:defRPr b="1" sz="1200">
                <a:solidFill>
                  <a:srgbClr val="0F172A"/>
                </a:solidFill>
              </a:defRPr>
            </a:pPr>
            <a:r>
              <a:t>• UI Styling &amp; Theme Parity: </a:t>
            </a:r>
          </a:p>
          <a:p>
            <a:pPr>
              <a:defRPr sz="1100">
                <a:solidFill>
                  <a:srgbClr val="334155"/>
                </a:solidFill>
              </a:defRPr>
            </a:pPr>
            <a:r>
              <a:t>  Built custom TailAdmin design system tokens in vanilla CSS with zero-dependency runtime.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SLIDE 10 // SALESGENIE AI — ENTERPRISE B2B SALES PLATFORM</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Project Impact — Real-World Enterprise Business Value</a:t>
            </a:r>
          </a:p>
        </p:txBody>
      </p:sp>
      <p:sp>
        <p:nvSpPr>
          <p:cNvPr id="5" name="Rectangle 4"/>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2514600"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20240"/>
            <a:ext cx="2057400" cy="3931920"/>
          </a:xfrm>
          <a:prstGeom prst="rect">
            <a:avLst/>
          </a:prstGeom>
          <a:noFill/>
        </p:spPr>
        <p:txBody>
          <a:bodyPr wrap="square">
            <a:spAutoFit/>
          </a:bodyPr>
          <a:lstStyle/>
          <a:p>
            <a:pPr>
              <a:defRPr sz="1700" b="1">
                <a:solidFill>
                  <a:srgbClr val="2563EB"/>
                </a:solidFill>
              </a:defRPr>
            </a:pPr>
            <a:r>
              <a:t>💼 B2B Sales Teams</a:t>
            </a:r>
          </a:p>
          <a:p>
            <a:pPr>
              <a:spcBef>
                <a:spcPts val="1400"/>
              </a:spcBef>
              <a:defRPr sz="1200">
                <a:solidFill>
                  <a:srgbClr val="334155"/>
                </a:solidFill>
              </a:defRPr>
            </a:pPr>
            <a:r>
              <a:t>Enables SDRs and Account Executives to manage 4x larger pipeline volumes with automated qualification, personalized messaging, and zero administrative overhead.</a:t>
            </a:r>
          </a:p>
        </p:txBody>
      </p:sp>
      <p:sp>
        <p:nvSpPr>
          <p:cNvPr id="9" name="Rounded Rectangle 8"/>
          <p:cNvSpPr/>
          <p:nvPr/>
        </p:nvSpPr>
        <p:spPr>
          <a:xfrm>
            <a:off x="3465576"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65576" y="1554480"/>
            <a:ext cx="2514600" cy="109728"/>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94176" y="1920240"/>
            <a:ext cx="2057400" cy="3931920"/>
          </a:xfrm>
          <a:prstGeom prst="rect">
            <a:avLst/>
          </a:prstGeom>
          <a:noFill/>
        </p:spPr>
        <p:txBody>
          <a:bodyPr wrap="square">
            <a:spAutoFit/>
          </a:bodyPr>
          <a:lstStyle/>
          <a:p>
            <a:pPr>
              <a:defRPr sz="1700" b="1">
                <a:solidFill>
                  <a:srgbClr val="0284C7"/>
                </a:solidFill>
              </a:defRPr>
            </a:pPr>
            <a:r>
              <a:t>📈 Revenue Operations</a:t>
            </a:r>
          </a:p>
          <a:p>
            <a:pPr>
              <a:spcBef>
                <a:spcPts val="1400"/>
              </a:spcBef>
              <a:defRPr sz="1200">
                <a:solidFill>
                  <a:srgbClr val="334155"/>
                </a:solidFill>
              </a:defRPr>
            </a:pPr>
            <a:r>
              <a:t>Delivers objective, data-driven conversion forecasting, eliminating subjective rep estimates and improving pipeline predictability by 85%.</a:t>
            </a:r>
          </a:p>
        </p:txBody>
      </p:sp>
      <p:sp>
        <p:nvSpPr>
          <p:cNvPr id="12" name="Rounded Rectangle 11"/>
          <p:cNvSpPr/>
          <p:nvPr/>
        </p:nvSpPr>
        <p:spPr>
          <a:xfrm>
            <a:off x="6199632"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554480"/>
            <a:ext cx="25146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920240"/>
            <a:ext cx="2057400" cy="3931920"/>
          </a:xfrm>
          <a:prstGeom prst="rect">
            <a:avLst/>
          </a:prstGeom>
          <a:noFill/>
        </p:spPr>
        <p:txBody>
          <a:bodyPr wrap="square">
            <a:spAutoFit/>
          </a:bodyPr>
          <a:lstStyle/>
          <a:p>
            <a:pPr>
              <a:defRPr sz="1700" b="1">
                <a:solidFill>
                  <a:srgbClr val="7C3AED"/>
                </a:solidFill>
              </a:defRPr>
            </a:pPr>
            <a:r>
              <a:t>🤝 Executive Leadership</a:t>
            </a:r>
          </a:p>
          <a:p>
            <a:pPr>
              <a:spcBef>
                <a:spcPts val="1400"/>
              </a:spcBef>
              <a:defRPr sz="1200">
                <a:solidFill>
                  <a:srgbClr val="334155"/>
                </a:solidFill>
              </a:defRPr>
            </a:pPr>
            <a:r>
              <a:t>Provides C-suite executives with instant visibility into pipeline velocity, sales cycle length (28 days), and team response times (2.4h).</a:t>
            </a:r>
          </a:p>
        </p:txBody>
      </p:sp>
      <p:sp>
        <p:nvSpPr>
          <p:cNvPr id="15" name="Rounded Rectangle 14"/>
          <p:cNvSpPr/>
          <p:nvPr/>
        </p:nvSpPr>
        <p:spPr>
          <a:xfrm>
            <a:off x="8933688"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33688" y="1554480"/>
            <a:ext cx="2514600" cy="1097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62288" y="1920240"/>
            <a:ext cx="2057400" cy="3931920"/>
          </a:xfrm>
          <a:prstGeom prst="rect">
            <a:avLst/>
          </a:prstGeom>
          <a:noFill/>
        </p:spPr>
        <p:txBody>
          <a:bodyPr wrap="square">
            <a:spAutoFit/>
          </a:bodyPr>
          <a:lstStyle/>
          <a:p>
            <a:pPr>
              <a:defRPr sz="1700" b="1">
                <a:solidFill>
                  <a:srgbClr val="059669"/>
                </a:solidFill>
              </a:defRPr>
            </a:pPr>
            <a:r>
              <a:t>💰 High ROI &amp; Low TCO</a:t>
            </a:r>
          </a:p>
          <a:p>
            <a:pPr>
              <a:spcBef>
                <a:spcPts val="1400"/>
              </a:spcBef>
              <a:defRPr sz="1200">
                <a:solidFill>
                  <a:srgbClr val="334155"/>
                </a:solidFill>
              </a:defRPr>
            </a:pPr>
            <a:r>
              <a:t>Lightweight, efficient architecture eliminates expensive third-party SaaS subscriptions by unifying CRM, scoring, outreach, and call intelligence.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SLIDE 11 // SALESGENIE AI — ENTERPRISE B2B SALES PLATFORM</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Conclusion — Summary &amp; Project Achievements</a:t>
            </a:r>
          </a:p>
        </p:txBody>
      </p:sp>
      <p:sp>
        <p:nvSpPr>
          <p:cNvPr id="5" name="Rectangle 4"/>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10728655" cy="4663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1072865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828800"/>
            <a:ext cx="9966960" cy="4114800"/>
          </a:xfrm>
          <a:prstGeom prst="rect">
            <a:avLst/>
          </a:prstGeom>
          <a:noFill/>
        </p:spPr>
        <p:txBody>
          <a:bodyPr wrap="square">
            <a:spAutoFit/>
          </a:bodyPr>
          <a:lstStyle/>
          <a:p>
            <a:pPr>
              <a:defRPr sz="2200" b="1">
                <a:solidFill>
                  <a:srgbClr val="2563EB"/>
                </a:solidFill>
              </a:defRPr>
            </a:pPr>
            <a:r>
              <a:t>🎉 Key Project Takeaways &amp; Delivery Milestones</a:t>
            </a:r>
          </a:p>
          <a:p>
            <a:pPr>
              <a:spcBef>
                <a:spcPts val="1000"/>
              </a:spcBef>
              <a:defRPr sz="1300">
                <a:solidFill>
                  <a:srgbClr val="0F172A"/>
                </a:solidFill>
              </a:defRPr>
            </a:pPr>
            <a:r>
              <a:t>✔  100% Milestone Compliance: Successfully completed all 4 milestones spanning EDA, ML lead scoring, NLP meeting intelligence, and the executive KPI dashboard.</a:t>
            </a:r>
          </a:p>
          <a:p>
            <a:pPr>
              <a:spcBef>
                <a:spcPts val="1000"/>
              </a:spcBef>
              <a:defRPr sz="1300">
                <a:solidFill>
                  <a:srgbClr val="0F172A"/>
                </a:solidFill>
              </a:defRPr>
            </a:pPr>
            <a:r>
              <a:t>✔  Production-Grade Architecture: Delivered an asynchronous FastAPI backend paired with a high-fidelity React/Vite TailAdmin design system.</a:t>
            </a:r>
          </a:p>
          <a:p>
            <a:pPr>
              <a:spcBef>
                <a:spcPts val="1000"/>
              </a:spcBef>
              <a:defRPr sz="1300">
                <a:solidFill>
                  <a:srgbClr val="0F172A"/>
                </a:solidFill>
              </a:defRPr>
            </a:pPr>
            <a:r>
              <a:t>✔  Proven Machine Learning: RandomForest classifier achieving 94.2% intent scoring accuracy backed by TF-IDF Cosine Similarity deal benchmarking.</a:t>
            </a:r>
          </a:p>
          <a:p>
            <a:pPr>
              <a:spcBef>
                <a:spcPts val="1000"/>
              </a:spcBef>
              <a:defRPr sz="1300">
                <a:solidFill>
                  <a:srgbClr val="0F172A"/>
                </a:solidFill>
              </a:defRPr>
            </a:pPr>
            <a:r>
              <a:t>✔  State-of-the-Art Generative AI: Integrated NVIDIA NIM meta/llama-3.1-70b-instruct with deterministic offline fallbacks.</a:t>
            </a:r>
          </a:p>
          <a:p>
            <a:pPr>
              <a:spcBef>
                <a:spcPts val="1000"/>
              </a:spcBef>
              <a:defRPr sz="1300">
                <a:solidFill>
                  <a:srgbClr val="0F172A"/>
                </a:solidFill>
              </a:defRPr>
            </a:pPr>
            <a:r>
              <a:t>✔  Verified Quality Assurance: 22/22 unit tests passing with comprehensive validation of all recommendation and scoring boundary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731520"/>
            <a:ext cx="1072865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371600"/>
            <a:ext cx="9448495" cy="4114800"/>
          </a:xfrm>
          <a:prstGeom prst="rect">
            <a:avLst/>
          </a:prstGeom>
          <a:noFill/>
        </p:spPr>
        <p:txBody>
          <a:bodyPr wrap="square">
            <a:spAutoFit/>
          </a:bodyPr>
          <a:lstStyle/>
          <a:p>
            <a:pPr algn="ctr">
              <a:defRPr sz="4800" b="1">
                <a:solidFill>
                  <a:srgbClr val="0F172A"/>
                </a:solidFill>
              </a:defRPr>
            </a:pPr>
            <a:r>
              <a:t>Thank You!</a:t>
            </a:r>
          </a:p>
          <a:p>
            <a:pPr algn="ctr">
              <a:spcBef>
                <a:spcPts val="800"/>
              </a:spcBef>
              <a:defRPr sz="2200" b="1">
                <a:solidFill>
                  <a:srgbClr val="2563EB"/>
                </a:solidFill>
              </a:defRPr>
            </a:pPr>
            <a:r>
              <a:t>Questions &amp; Interactive Demonstration</a:t>
            </a:r>
          </a:p>
          <a:p>
            <a:pPr algn="ctr">
              <a:spcBef>
                <a:spcPts val="1400"/>
              </a:spcBef>
              <a:defRPr sz="1400">
                <a:solidFill>
                  <a:srgbClr val="334155"/>
                </a:solidFill>
              </a:defRPr>
            </a:pPr>
            <a:r>
              <a:t>We are now open for feedback, technical questions, and a live walkthrough of the platform.</a:t>
            </a:r>
          </a:p>
          <a:p>
            <a:pPr algn="ctr">
              <a:spcBef>
                <a:spcPts val="2400"/>
              </a:spcBef>
              <a:defRPr sz="1200">
                <a:solidFill>
                  <a:srgbClr val="2563EB"/>
                </a:solidFill>
              </a:defRPr>
            </a:pPr>
            <a:r>
              <a:t>🌐 Live Frontend: http://localhost:5173   |   📚 API Documentation: http://localhost:8000/docs</a:t>
            </a:r>
            <a:br/>
            <a:r>
              <a:t>🚀 Launch Command: ./start.sh   |   🧪 Unit Test Suite: pytest backend/tests/test_engine.py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