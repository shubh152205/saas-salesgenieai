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 are presenting SaaS SalesGenie AI, an autonomous sales intelligence and predictive lead acceleration platform purpose-built for the B2B SaaS (Software as a Service) industry. Our platform is engineered to solve the unique growth, pipeline velocity, and customer acquisition cost challenges faced by modern SaaS revenue teams.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introduce the project: B2B SaaS companies struggle with high Customer Acquisition Costs (CAC), long sales cycles, and lost discovery insights. SaaS SalesGenie AI bridges the gap between raw CRM trial data and closed ARR by providing an active, prescriptive intelligence engine tailored exclusively for Software as a Service sales motions.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B2B SaaS sales, these four bottlenecks destroy pipeline velocity: 1) Sales reps wasting 65% of time on low-value signups; 2) Sub-2% cold email response rates from generic templates; 3) Uncaptured meeting intelligence and action items on demo calls; and 4) Follow-up delays leading to massive SaaS revenue leakage.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overview details our mission for Software as a Service companies: an autonomous sales acceleration ecosystem built on four pillars: predictive scoring, vector deal benchmarking, agentic outreach, and conversational meeting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architecture follows a clean 4-tier separation: a modern React/Vite SaaS presentation layer, an asynchronous FastAPI gateway, a Scikit-Learn ML and NLP core, and NVIDIA NIM LLM orchestration backed by an indexed SQLite relational store.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tech stack combines the best modern web and AI tools: React 18, FastAPI, Scikit-Learn, NVIDIA NIM, SQLite with WAL mode, and a complete 22-test automated Pytest suite.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6 core project modules tailored for SaaS: the Executive Dashboard, ML Lead Scorer, Vector Deal Matcher, NVIDIA NIM Outreach Generator, SaaS Call Intelligence &amp; Sentiment, and the Kanban Deal Pipeline with Automation.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live screenshots show the actual user interface in clean Light Mode: the Executive Dashboard with 6 KPI cards, the ML Lead Scoring directory, the 5-Stage Kanban Pipeline, AI Cold Outreach generator, and Meeting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combines our key advantages and engineering challenges: 65% faster SaaS deal cycles and 3x higher email responses, alongside how we overcame audio latency, LLM hallucination risks, and database synchronization.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real-world impact of SaaS SalesGenie AI is immense: sales teams manage 4x more pipeline, leadership gains accurate ARR predictability, and companies reduce CAC by unifying CRM and AI outreach into one stack.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SaaS SalesGenie AI stands as a complete, industry-grade autonomous sales intelligence platform tailored for Software as a Service, fully verified with 22 passing tests and 100% milestone alignment across all functional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time and attention. We are now open for any questions, feedback, or a live demo of the SaaS SalesGenie AI platform.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FFFF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731520"/>
            <a:ext cx="1072865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188720"/>
            <a:ext cx="475488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563EB"/>
                </a:solidFill>
              </a:defRPr>
            </a:pPr>
            <a:r>
              <a:t>⚡ AUTONOMOUS B2B SAAS (SOFTWARE AS A SERVICE) PLATFORM</a:t>
            </a:r>
          </a:p>
        </p:txBody>
      </p:sp>
      <p:sp>
        <p:nvSpPr>
          <p:cNvPr id="6" name="TextBox 5"/>
          <p:cNvSpPr txBox="1"/>
          <p:nvPr/>
        </p:nvSpPr>
        <p:spPr>
          <a:xfrm>
            <a:off x="1188720" y="1783080"/>
            <a:ext cx="9784080" cy="1463040"/>
          </a:xfrm>
          <a:prstGeom prst="rect">
            <a:avLst/>
          </a:prstGeom>
          <a:noFill/>
        </p:spPr>
        <p:txBody>
          <a:bodyPr wrap="square">
            <a:spAutoFit/>
          </a:bodyPr>
          <a:lstStyle/>
          <a:p>
            <a:pPr>
              <a:defRPr sz="4600" b="1">
                <a:solidFill>
                  <a:srgbClr val="0F172A"/>
                </a:solidFill>
              </a:defRPr>
            </a:pPr>
            <a:r>
              <a:t>SaaS SalesGenie AI</a:t>
            </a:r>
          </a:p>
          <a:p>
            <a:pPr>
              <a:defRPr sz="2200" b="1">
                <a:solidFill>
                  <a:srgbClr val="2563EB"/>
                </a:solidFill>
              </a:defRPr>
            </a:pPr>
            <a:r>
              <a:t>Autonomous B2B SaaS Sales Intelligence &amp; Predictive Lead Engine</a:t>
            </a:r>
          </a:p>
        </p:txBody>
      </p:sp>
      <p:sp>
        <p:nvSpPr>
          <p:cNvPr id="7" name="TextBox 6"/>
          <p:cNvSpPr txBox="1"/>
          <p:nvPr/>
        </p:nvSpPr>
        <p:spPr>
          <a:xfrm>
            <a:off x="1188720" y="3429000"/>
            <a:ext cx="9784080" cy="1097280"/>
          </a:xfrm>
          <a:prstGeom prst="rect">
            <a:avLst/>
          </a:prstGeom>
          <a:noFill/>
        </p:spPr>
        <p:txBody>
          <a:bodyPr wrap="square">
            <a:spAutoFit/>
          </a:bodyPr>
          <a:lstStyle/>
          <a:p>
            <a:pPr>
              <a:defRPr sz="1350">
                <a:solidFill>
                  <a:srgbClr val="334155"/>
                </a:solidFill>
              </a:defRPr>
            </a:pPr>
            <a:r>
              <a:t>An end-to-end intelligent CRM and revenue acceleration platform engineered specifically for the B2B SaaS (Software as a Service) industry. Combines Supervised ML Lead Scoring (Random Forest), Cosine Similarity SaaS Contract Benchmarking, Audio Call Intelligence for SaaS Demos, and Agentic Cold Outreach via NVIDIA NIM LLMs.</a:t>
            </a:r>
          </a:p>
        </p:txBody>
      </p:sp>
      <p:sp>
        <p:nvSpPr>
          <p:cNvPr id="8" name="TextBox 7"/>
          <p:cNvSpPr txBox="1"/>
          <p:nvPr/>
        </p:nvSpPr>
        <p:spPr>
          <a:xfrm>
            <a:off x="1188720" y="4709160"/>
            <a:ext cx="9784080" cy="914400"/>
          </a:xfrm>
          <a:prstGeom prst="rect">
            <a:avLst/>
          </a:prstGeom>
          <a:noFill/>
        </p:spPr>
        <p:txBody>
          <a:bodyPr wrap="none">
            <a:spAutoFit/>
          </a:bodyPr>
          <a:lstStyle/>
          <a:p>
            <a:pPr>
              <a:defRPr sz="1200">
                <a:solidFill>
                  <a:srgbClr val="64748B"/>
                </a:solidFill>
              </a:defRPr>
            </a:pPr>
            <a:r>
              <a:t>• Domain: B2B SaaS (Software as a Service) Revenue Acceleration   |   • Milestone: Milestone 4 Full-Stack Audit</a:t>
            </a:r>
            <a:br/>
            <a:r>
              <a:t>• Core Stack: FastAPI • Scikit-Learn • NVIDIA NIM (Llama 3.1 70B) • React 18 TailAdmin • SQLite WAL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02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Project Introduction — The B2B SaaS Sales Intelligence Revolution</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109728" cy="2194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4617720" cy="1828800"/>
          </a:xfrm>
          <a:prstGeom prst="rect">
            <a:avLst/>
          </a:prstGeom>
          <a:noFill/>
        </p:spPr>
        <p:txBody>
          <a:bodyPr wrap="square">
            <a:spAutoFit/>
          </a:bodyPr>
          <a:lstStyle/>
          <a:p>
            <a:pPr>
              <a:defRPr sz="1600" b="1">
                <a:solidFill>
                  <a:srgbClr val="2563EB"/>
                </a:solidFill>
              </a:defRPr>
            </a:pPr>
            <a:r>
              <a:t>🎯 What is SaaS SalesGenie AI?</a:t>
            </a:r>
          </a:p>
          <a:p>
            <a:pPr>
              <a:spcBef>
                <a:spcPts val="800"/>
              </a:spcBef>
              <a:defRPr sz="1250">
                <a:solidFill>
                  <a:srgbClr val="334155"/>
                </a:solidFill>
              </a:defRPr>
            </a:pPr>
            <a:r>
              <a:t>A specialized revenue acceleration system for B2B SaaS (Software as a Service) enterprises. It automates the full outbound and pipeline lifecycle, turning trial usage, funding rounds, and discovery calls into ARR expansion.</a:t>
            </a:r>
          </a:p>
        </p:txBody>
      </p:sp>
      <p:sp>
        <p:nvSpPr>
          <p:cNvPr id="9" name="Rounded Rectangle 8"/>
          <p:cNvSpPr/>
          <p:nvPr/>
        </p:nvSpPr>
        <p:spPr>
          <a:xfrm>
            <a:off x="6217920" y="1554480"/>
            <a:ext cx="521208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554480"/>
            <a:ext cx="109728" cy="21945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709160" cy="1828800"/>
          </a:xfrm>
          <a:prstGeom prst="rect">
            <a:avLst/>
          </a:prstGeom>
          <a:noFill/>
        </p:spPr>
        <p:txBody>
          <a:bodyPr wrap="square">
            <a:spAutoFit/>
          </a:bodyPr>
          <a:lstStyle/>
          <a:p>
            <a:pPr>
              <a:defRPr sz="1600" b="1">
                <a:solidFill>
                  <a:srgbClr val="0284C7"/>
                </a:solidFill>
              </a:defRPr>
            </a:pPr>
            <a:r>
              <a:t>🚀 Full SaaS Pipeline Lifecycle</a:t>
            </a:r>
          </a:p>
          <a:p>
            <a:pPr>
              <a:spcBef>
                <a:spcPts val="800"/>
              </a:spcBef>
              <a:defRPr sz="1250">
                <a:solidFill>
                  <a:srgbClr val="334155"/>
                </a:solidFill>
              </a:defRPr>
            </a:pPr>
            <a:r>
              <a:t>Unifies predictive trial-to-paid scoring, live customer discovery call analysis, automated 48h follow-up cadences, and an executive ARR/ACV command center in one seamless, high-velocity interface.</a:t>
            </a:r>
          </a:p>
        </p:txBody>
      </p:sp>
      <p:sp>
        <p:nvSpPr>
          <p:cNvPr id="12" name="Rounded Rectangle 11"/>
          <p:cNvSpPr/>
          <p:nvPr/>
        </p:nvSpPr>
        <p:spPr>
          <a:xfrm>
            <a:off x="731520" y="4023360"/>
            <a:ext cx="512064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023360"/>
            <a:ext cx="109728" cy="21945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206240"/>
            <a:ext cx="4617720" cy="1828800"/>
          </a:xfrm>
          <a:prstGeom prst="rect">
            <a:avLst/>
          </a:prstGeom>
          <a:noFill/>
        </p:spPr>
        <p:txBody>
          <a:bodyPr wrap="square">
            <a:spAutoFit/>
          </a:bodyPr>
          <a:lstStyle/>
          <a:p>
            <a:pPr>
              <a:defRPr sz="1600" b="1">
                <a:solidFill>
                  <a:srgbClr val="7C3AED"/>
                </a:solidFill>
              </a:defRPr>
            </a:pPr>
            <a:r>
              <a:t>🧠 Hybrid SaaS ML &amp; GenAI Engine</a:t>
            </a:r>
          </a:p>
          <a:p>
            <a:pPr>
              <a:spcBef>
                <a:spcPts val="800"/>
              </a:spcBef>
              <a:defRPr sz="1250">
                <a:solidFill>
                  <a:srgbClr val="334155"/>
                </a:solidFill>
              </a:defRPr>
            </a:pPr>
            <a:r>
              <a:t>Trains deterministic Scikit-Learn Random Forest classifiers on SaaS buyer signals (API limits, seat expansion, tech stack compatibility) and orchestrates NVIDIA NIM 70B for hyper-personalized SaaS outbound.</a:t>
            </a:r>
          </a:p>
        </p:txBody>
      </p:sp>
      <p:sp>
        <p:nvSpPr>
          <p:cNvPr id="15" name="Rounded Rectangle 14"/>
          <p:cNvSpPr/>
          <p:nvPr/>
        </p:nvSpPr>
        <p:spPr>
          <a:xfrm>
            <a:off x="6217920" y="4023360"/>
            <a:ext cx="5212080" cy="2194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023360"/>
            <a:ext cx="109728" cy="21945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4206240"/>
            <a:ext cx="4709160" cy="1828800"/>
          </a:xfrm>
          <a:prstGeom prst="rect">
            <a:avLst/>
          </a:prstGeom>
          <a:noFill/>
        </p:spPr>
        <p:txBody>
          <a:bodyPr wrap="square">
            <a:spAutoFit/>
          </a:bodyPr>
          <a:lstStyle/>
          <a:p>
            <a:pPr>
              <a:defRPr sz="1600" b="1">
                <a:solidFill>
                  <a:srgbClr val="059669"/>
                </a:solidFill>
              </a:defRPr>
            </a:pPr>
            <a:r>
              <a:t>💼 Built for Modern SaaS Scale</a:t>
            </a:r>
          </a:p>
          <a:p>
            <a:pPr>
              <a:spcBef>
                <a:spcPts val="800"/>
              </a:spcBef>
              <a:defRPr sz="1250">
                <a:solidFill>
                  <a:srgbClr val="334155"/>
                </a:solidFill>
              </a:defRPr>
            </a:pPr>
            <a:r>
              <a:t>Features zero-loss offline fallbacks, optimized SQLite indexing with WAL mode, stateless PyJWT security, and sub-15ms ML inference latency designed for high-velocity B2B SaaS revenue operations.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03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Problem Statement — Critical Bottlenecks in B2B SaaS Sales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20" y="1828800"/>
            <a:ext cx="731520" cy="365760"/>
          </a:xfrm>
          <a:prstGeom prst="roundRect">
            <a:avLst/>
          </a:prstGeom>
          <a:solidFill>
            <a:srgbClr val="FFF1F2"/>
          </a:solidFill>
          <a:ln>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E11D48"/>
                </a:solidFill>
              </a:defRPr>
            </a:pPr>
            <a:r>
              <a:t>01</a:t>
            </a:r>
          </a:p>
        </p:txBody>
      </p:sp>
      <p:sp>
        <p:nvSpPr>
          <p:cNvPr id="8" name="TextBox 7"/>
          <p:cNvSpPr txBox="1"/>
          <p:nvPr/>
        </p:nvSpPr>
        <p:spPr>
          <a:xfrm>
            <a:off x="960120" y="2331720"/>
            <a:ext cx="2057400" cy="3566160"/>
          </a:xfrm>
          <a:prstGeom prst="rect">
            <a:avLst/>
          </a:prstGeom>
          <a:noFill/>
        </p:spPr>
        <p:txBody>
          <a:bodyPr wrap="square">
            <a:spAutoFit/>
          </a:bodyPr>
          <a:lstStyle/>
          <a:p>
            <a:pPr>
              <a:defRPr sz="1600" b="1">
                <a:solidFill>
                  <a:srgbClr val="0F172A"/>
                </a:solidFill>
              </a:defRPr>
            </a:pPr>
            <a:r>
              <a:t>Blind SaaS Lead Triage</a:t>
            </a:r>
          </a:p>
          <a:p>
            <a:pPr>
              <a:spcBef>
                <a:spcPts val="1000"/>
              </a:spcBef>
              <a:defRPr sz="1200">
                <a:solidFill>
                  <a:srgbClr val="334155"/>
                </a:solidFill>
              </a:defRPr>
            </a:pPr>
            <a:r>
              <a:t>SaaS SDRs waste over 65% of their working hours manually qualifying low-intent free tier accounts. High-ACV enterprise accounts slip away while non-converting signups drain rep bandwidth.</a:t>
            </a:r>
          </a:p>
        </p:txBody>
      </p:sp>
      <p:sp>
        <p:nvSpPr>
          <p:cNvPr id="9" name="Rounded Rectangle 8"/>
          <p:cNvSpPr/>
          <p:nvPr/>
        </p:nvSpPr>
        <p:spPr>
          <a:xfrm>
            <a:off x="3465576"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94176" y="1828800"/>
            <a:ext cx="731520" cy="36576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97706"/>
                </a:solidFill>
              </a:defRPr>
            </a:pPr>
            <a:r>
              <a:t>02</a:t>
            </a:r>
          </a:p>
        </p:txBody>
      </p:sp>
      <p:sp>
        <p:nvSpPr>
          <p:cNvPr id="11" name="TextBox 10"/>
          <p:cNvSpPr txBox="1"/>
          <p:nvPr/>
        </p:nvSpPr>
        <p:spPr>
          <a:xfrm>
            <a:off x="3694176" y="2331720"/>
            <a:ext cx="2057400" cy="3566160"/>
          </a:xfrm>
          <a:prstGeom prst="rect">
            <a:avLst/>
          </a:prstGeom>
          <a:noFill/>
        </p:spPr>
        <p:txBody>
          <a:bodyPr wrap="square">
            <a:spAutoFit/>
          </a:bodyPr>
          <a:lstStyle/>
          <a:p>
            <a:pPr>
              <a:defRPr sz="1600" b="1">
                <a:solidFill>
                  <a:srgbClr val="0F172A"/>
                </a:solidFill>
              </a:defRPr>
            </a:pPr>
            <a:r>
              <a:t>Low-Converting SaaS Outreach</a:t>
            </a:r>
          </a:p>
          <a:p>
            <a:pPr>
              <a:spcBef>
                <a:spcPts val="1000"/>
              </a:spcBef>
              <a:defRPr sz="1200">
                <a:solidFill>
                  <a:srgbClr val="334155"/>
                </a:solidFill>
              </a:defRPr>
            </a:pPr>
            <a:r>
              <a:t>Generic cold outreach yields &lt;2% reply rates in SaaS. Buyers ignore emails that lack awareness of their technographic stack (AWS, Snowflake, Stripe), funding rounds, and specific engineering pain points.</a:t>
            </a:r>
          </a:p>
        </p:txBody>
      </p:sp>
      <p:sp>
        <p:nvSpPr>
          <p:cNvPr id="12" name="Rounded Rectangle 11"/>
          <p:cNvSpPr/>
          <p:nvPr/>
        </p:nvSpPr>
        <p:spPr>
          <a:xfrm>
            <a:off x="6199632"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28232" y="1828800"/>
            <a:ext cx="731520" cy="365760"/>
          </a:xfrm>
          <a:prstGeom prst="roundRect">
            <a:avLst/>
          </a:prstGeom>
          <a:solidFill>
            <a:srgbClr val="F5F3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C3AED"/>
                </a:solidFill>
              </a:defRPr>
            </a:pPr>
            <a:r>
              <a:t>03</a:t>
            </a:r>
          </a:p>
        </p:txBody>
      </p:sp>
      <p:sp>
        <p:nvSpPr>
          <p:cNvPr id="14" name="TextBox 13"/>
          <p:cNvSpPr txBox="1"/>
          <p:nvPr/>
        </p:nvSpPr>
        <p:spPr>
          <a:xfrm>
            <a:off x="6428232" y="2331720"/>
            <a:ext cx="2057400" cy="3566160"/>
          </a:xfrm>
          <a:prstGeom prst="rect">
            <a:avLst/>
          </a:prstGeom>
          <a:noFill/>
        </p:spPr>
        <p:txBody>
          <a:bodyPr wrap="square">
            <a:spAutoFit/>
          </a:bodyPr>
          <a:lstStyle/>
          <a:p>
            <a:pPr>
              <a:defRPr sz="1600" b="1">
                <a:solidFill>
                  <a:srgbClr val="0F172A"/>
                </a:solidFill>
              </a:defRPr>
            </a:pPr>
            <a:r>
              <a:t>Lost SaaS Demo Intelligence</a:t>
            </a:r>
          </a:p>
          <a:p>
            <a:pPr>
              <a:spcBef>
                <a:spcPts val="1000"/>
              </a:spcBef>
              <a:defRPr sz="1200">
                <a:solidFill>
                  <a:srgbClr val="334155"/>
                </a:solidFill>
              </a:defRPr>
            </a:pPr>
            <a:r>
              <a:t>Critical customer objections, SOC2 security requirements, custom integration needs, and buying signals discussed during SaaS demo calls are forgotten or poorly logged in CRMs.</a:t>
            </a:r>
          </a:p>
        </p:txBody>
      </p:sp>
      <p:sp>
        <p:nvSpPr>
          <p:cNvPr id="15" name="Rounded Rectangle 14"/>
          <p:cNvSpPr/>
          <p:nvPr/>
        </p:nvSpPr>
        <p:spPr>
          <a:xfrm>
            <a:off x="8933688"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62288" y="1828800"/>
            <a:ext cx="731520" cy="365760"/>
          </a:xfrm>
          <a:prstGeom prst="roundRect">
            <a:avLst/>
          </a:prstGeom>
          <a:solidFill>
            <a:srgbClr val="F0F9FF"/>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284C7"/>
                </a:solidFill>
              </a:defRPr>
            </a:pPr>
            <a:r>
              <a:t>04</a:t>
            </a:r>
          </a:p>
        </p:txBody>
      </p:sp>
      <p:sp>
        <p:nvSpPr>
          <p:cNvPr id="17" name="TextBox 16"/>
          <p:cNvSpPr txBox="1"/>
          <p:nvPr/>
        </p:nvSpPr>
        <p:spPr>
          <a:xfrm>
            <a:off x="9162288" y="2331720"/>
            <a:ext cx="2057400" cy="3566160"/>
          </a:xfrm>
          <a:prstGeom prst="rect">
            <a:avLst/>
          </a:prstGeom>
          <a:noFill/>
        </p:spPr>
        <p:txBody>
          <a:bodyPr wrap="square">
            <a:spAutoFit/>
          </a:bodyPr>
          <a:lstStyle/>
          <a:p>
            <a:pPr>
              <a:defRPr sz="1600" b="1">
                <a:solidFill>
                  <a:srgbClr val="0F172A"/>
                </a:solidFill>
              </a:defRPr>
            </a:pPr>
            <a:r>
              <a:t>SaaS Follow-up Inactivity</a:t>
            </a:r>
          </a:p>
          <a:p>
            <a:pPr>
              <a:spcBef>
                <a:spcPts val="1000"/>
              </a:spcBef>
              <a:defRPr sz="1200">
                <a:solidFill>
                  <a:srgbClr val="334155"/>
                </a:solidFill>
              </a:defRPr>
            </a:pPr>
            <a:r>
              <a:t>Delayed follow-ups after SaaS demos drop conversion rates by 80%. SDRs struggle with manual follow-up cadences, leading to 60+ day elongated sales cycles and deal abandonment.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04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Project Overview — Autonomous B2B SaaS Revenue Solution</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4114800" cy="4663440"/>
          </a:xfrm>
          <a:prstGeom prst="roundRect">
            <a:avLst/>
          </a:prstGeom>
          <a:solidFill>
            <a:srgbClr val="FFFF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4114800"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3566160" cy="4114800"/>
          </a:xfrm>
          <a:prstGeom prst="rect">
            <a:avLst/>
          </a:prstGeom>
          <a:noFill/>
        </p:spPr>
        <p:txBody>
          <a:bodyPr wrap="square">
            <a:spAutoFit/>
          </a:bodyPr>
          <a:lstStyle/>
          <a:p>
            <a:pPr>
              <a:defRPr sz="2000" b="1">
                <a:solidFill>
                  <a:srgbClr val="2563EB"/>
                </a:solidFill>
              </a:defRPr>
            </a:pPr>
            <a:r>
              <a:t>🎯 SaaS Core Objective</a:t>
            </a:r>
          </a:p>
          <a:p>
            <a:pPr>
              <a:spcBef>
                <a:spcPts val="1000"/>
              </a:spcBef>
              <a:defRPr sz="1350">
                <a:solidFill>
                  <a:srgbClr val="0F172A"/>
                </a:solidFill>
              </a:defRPr>
            </a:pPr>
            <a:r>
              <a:t>To deliver a unified, production-grade AI sales platform specifically tailored for B2B SaaS (Software as a Service) companies that accelerates ARR growth, compresses SaaS sales cycles from 45 to 28 days, and eliminates manual sales administration.</a:t>
            </a:r>
          </a:p>
          <a:p>
            <a:pPr>
              <a:spcBef>
                <a:spcPts val="1400"/>
              </a:spcBef>
              <a:defRPr sz="1250">
                <a:solidFill>
                  <a:srgbClr val="0284C7"/>
                </a:solidFill>
              </a:defRPr>
            </a:pPr>
            <a:r>
              <a:t>⚡ Key SaaS Metric Targets:</a:t>
            </a:r>
            <a:br/>
            <a:r>
              <a:t>• 94.2% ML Intent Scoring Accuracy</a:t>
            </a:r>
            <a:br/>
            <a:r>
              <a:t>• Sub-15ms SaaS Lead Scoring Latency</a:t>
            </a:r>
            <a:br/>
            <a:r>
              <a:t>• 2.4h Lead Response Time (-18% MoM)</a:t>
            </a:r>
            <a:br/>
            <a:r>
              <a:t>• 100% Offline-Resilient Fallback Engine</a:t>
            </a:r>
          </a:p>
        </p:txBody>
      </p:sp>
      <p:sp>
        <p:nvSpPr>
          <p:cNvPr id="9" name="Rounded Rectangle 8"/>
          <p:cNvSpPr/>
          <p:nvPr/>
        </p:nvSpPr>
        <p:spPr>
          <a:xfrm>
            <a:off x="5120640" y="1554480"/>
            <a:ext cx="630936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120640" y="1554480"/>
            <a:ext cx="91440" cy="100584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1664208"/>
            <a:ext cx="5852160" cy="777240"/>
          </a:xfrm>
          <a:prstGeom prst="rect">
            <a:avLst/>
          </a:prstGeom>
          <a:noFill/>
        </p:spPr>
        <p:txBody>
          <a:bodyPr wrap="square">
            <a:spAutoFit/>
          </a:bodyPr>
          <a:lstStyle/>
          <a:p>
            <a:pPr>
              <a:defRPr sz="1500" b="1">
                <a:solidFill>
                  <a:srgbClr val="059669"/>
                </a:solidFill>
              </a:defRPr>
            </a:pPr>
            <a:r>
              <a:t>1. Predictive SaaS Lead Scoring</a:t>
            </a:r>
          </a:p>
          <a:p>
            <a:pPr>
              <a:defRPr sz="1200">
                <a:solidFill>
                  <a:srgbClr val="334155"/>
                </a:solidFill>
              </a:defRPr>
            </a:pPr>
            <a:r>
              <a:t>100-tree Random Forest scoring SaaS accounts (0–100) based on demo requests, funding, and tech fit.</a:t>
            </a:r>
          </a:p>
        </p:txBody>
      </p:sp>
      <p:sp>
        <p:nvSpPr>
          <p:cNvPr id="12" name="Rounded Rectangle 11"/>
          <p:cNvSpPr/>
          <p:nvPr/>
        </p:nvSpPr>
        <p:spPr>
          <a:xfrm>
            <a:off x="5120640" y="2697480"/>
            <a:ext cx="630936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120640" y="2697480"/>
            <a:ext cx="91440" cy="10058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49240" y="2807208"/>
            <a:ext cx="5852160" cy="777240"/>
          </a:xfrm>
          <a:prstGeom prst="rect">
            <a:avLst/>
          </a:prstGeom>
          <a:noFill/>
        </p:spPr>
        <p:txBody>
          <a:bodyPr wrap="square">
            <a:spAutoFit/>
          </a:bodyPr>
          <a:lstStyle/>
          <a:p>
            <a:pPr>
              <a:defRPr sz="1500" b="1">
                <a:solidFill>
                  <a:srgbClr val="0284C7"/>
                </a:solidFill>
              </a:defRPr>
            </a:pPr>
            <a:r>
              <a:t>2. Cosine SaaS Deal Benchmarking</a:t>
            </a:r>
          </a:p>
          <a:p>
            <a:pPr>
              <a:defRPr sz="1200">
                <a:solidFill>
                  <a:srgbClr val="334155"/>
                </a:solidFill>
              </a:defRPr>
            </a:pPr>
            <a:r>
              <a:t>TF-IDF similarity engine matching prospects against historical Closed Won SaaS contract benchmarks.</a:t>
            </a:r>
          </a:p>
        </p:txBody>
      </p:sp>
      <p:sp>
        <p:nvSpPr>
          <p:cNvPr id="15" name="Rounded Rectangle 14"/>
          <p:cNvSpPr/>
          <p:nvPr/>
        </p:nvSpPr>
        <p:spPr>
          <a:xfrm>
            <a:off x="5120640" y="3840480"/>
            <a:ext cx="630936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3840480"/>
            <a:ext cx="91440"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9240" y="3950208"/>
            <a:ext cx="5852160" cy="777240"/>
          </a:xfrm>
          <a:prstGeom prst="rect">
            <a:avLst/>
          </a:prstGeom>
          <a:noFill/>
        </p:spPr>
        <p:txBody>
          <a:bodyPr wrap="square">
            <a:spAutoFit/>
          </a:bodyPr>
          <a:lstStyle/>
          <a:p>
            <a:pPr>
              <a:defRPr sz="1500" b="1">
                <a:solidFill>
                  <a:srgbClr val="7C3AED"/>
                </a:solidFill>
              </a:defRPr>
            </a:pPr>
            <a:r>
              <a:t>3. Agentic SaaS Outreach Engine</a:t>
            </a:r>
          </a:p>
          <a:p>
            <a:pPr>
              <a:defRPr sz="1200">
                <a:solidFill>
                  <a:srgbClr val="334155"/>
                </a:solidFill>
              </a:defRPr>
            </a:pPr>
            <a:r>
              <a:t>NVIDIA NIM Llama 3.1 70B generating personalized SaaS cold emails, follow-ups, and InMails.</a:t>
            </a:r>
          </a:p>
        </p:txBody>
      </p:sp>
      <p:sp>
        <p:nvSpPr>
          <p:cNvPr id="18" name="Rounded Rectangle 17"/>
          <p:cNvSpPr/>
          <p:nvPr/>
        </p:nvSpPr>
        <p:spPr>
          <a:xfrm>
            <a:off x="5120640" y="4983480"/>
            <a:ext cx="6309360" cy="10058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20640" y="4983480"/>
            <a:ext cx="91440" cy="10058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49240" y="5093208"/>
            <a:ext cx="5852160" cy="777240"/>
          </a:xfrm>
          <a:prstGeom prst="rect">
            <a:avLst/>
          </a:prstGeom>
          <a:noFill/>
        </p:spPr>
        <p:txBody>
          <a:bodyPr wrap="square">
            <a:spAutoFit/>
          </a:bodyPr>
          <a:lstStyle/>
          <a:p>
            <a:pPr>
              <a:defRPr sz="1500" b="1">
                <a:solidFill>
                  <a:srgbClr val="D97706"/>
                </a:solidFill>
              </a:defRPr>
            </a:pPr>
            <a:r>
              <a:t>4. SaaS Call &amp; Demo Intelligence</a:t>
            </a:r>
          </a:p>
          <a:p>
            <a:pPr>
              <a:defRPr sz="1200">
                <a:solidFill>
                  <a:srgbClr val="334155"/>
                </a:solidFill>
              </a:defRPr>
            </a:pPr>
            <a:r>
              <a:t>Audio transcription with TextBlob NLP sentiment scoring and concrete action item extraction.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05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System Architecture — End-to-End Tiered Design for B2B SaaS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10728655" cy="960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137160"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664208"/>
            <a:ext cx="10058400" cy="731520"/>
          </a:xfrm>
          <a:prstGeom prst="rect">
            <a:avLst/>
          </a:prstGeom>
          <a:noFill/>
        </p:spPr>
        <p:txBody>
          <a:bodyPr wrap="square">
            <a:spAutoFit/>
          </a:bodyPr>
          <a:lstStyle/>
          <a:p>
            <a:pPr>
              <a:defRPr sz="1400" b="1">
                <a:solidFill>
                  <a:srgbClr val="2563EB"/>
                </a:solidFill>
              </a:defRPr>
            </a:pPr>
            <a:r>
              <a:t>1. PRESENTATION LAYER (SaaS SPA)</a:t>
            </a:r>
          </a:p>
          <a:p>
            <a:pPr>
              <a:spcBef>
                <a:spcPts val="300"/>
              </a:spcBef>
              <a:defRPr sz="1200">
                <a:solidFill>
                  <a:srgbClr val="0F172A"/>
                </a:solidFill>
              </a:defRPr>
            </a:pPr>
            <a:r>
              <a:t>React 18 • Vite SPA • TailAdmin SaaS Design System • Recharts ARR Analytics • Lucide UI</a:t>
            </a:r>
          </a:p>
        </p:txBody>
      </p:sp>
      <p:sp>
        <p:nvSpPr>
          <p:cNvPr id="9" name="Rounded Rectangle 8"/>
          <p:cNvSpPr/>
          <p:nvPr/>
        </p:nvSpPr>
        <p:spPr>
          <a:xfrm>
            <a:off x="731520" y="2697480"/>
            <a:ext cx="10728655" cy="960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97480"/>
            <a:ext cx="137160" cy="96012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07208"/>
            <a:ext cx="10058400" cy="731520"/>
          </a:xfrm>
          <a:prstGeom prst="rect">
            <a:avLst/>
          </a:prstGeom>
          <a:noFill/>
        </p:spPr>
        <p:txBody>
          <a:bodyPr wrap="square">
            <a:spAutoFit/>
          </a:bodyPr>
          <a:lstStyle/>
          <a:p>
            <a:pPr>
              <a:defRPr sz="1400" b="1">
                <a:solidFill>
                  <a:srgbClr val="0284C7"/>
                </a:solidFill>
              </a:defRPr>
            </a:pPr>
            <a:r>
              <a:t>2. API &amp; SECURITY GATEWAY</a:t>
            </a:r>
          </a:p>
          <a:p>
            <a:pPr>
              <a:spcBef>
                <a:spcPts val="300"/>
              </a:spcBef>
              <a:defRPr sz="1200">
                <a:solidFill>
                  <a:srgbClr val="0F172A"/>
                </a:solidFill>
              </a:defRPr>
            </a:pPr>
            <a:r>
              <a:t>FastAPI Asynchronous Router • PyJWT (HS256 Stateless Auth) • PBKDF2 Password Hashing • CORS Middleware</a:t>
            </a:r>
          </a:p>
        </p:txBody>
      </p:sp>
      <p:sp>
        <p:nvSpPr>
          <p:cNvPr id="12" name="Rounded Rectangle 11"/>
          <p:cNvSpPr/>
          <p:nvPr/>
        </p:nvSpPr>
        <p:spPr>
          <a:xfrm>
            <a:off x="731520" y="3840480"/>
            <a:ext cx="10728655" cy="960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37160"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950208"/>
            <a:ext cx="10058400" cy="731520"/>
          </a:xfrm>
          <a:prstGeom prst="rect">
            <a:avLst/>
          </a:prstGeom>
          <a:noFill/>
        </p:spPr>
        <p:txBody>
          <a:bodyPr wrap="square">
            <a:spAutoFit/>
          </a:bodyPr>
          <a:lstStyle/>
          <a:p>
            <a:pPr>
              <a:defRPr sz="1400" b="1">
                <a:solidFill>
                  <a:srgbClr val="7C3AED"/>
                </a:solidFill>
              </a:defRPr>
            </a:pPr>
            <a:r>
              <a:t>3. SAAS INTELLIGENCE &amp; ML CORE</a:t>
            </a:r>
          </a:p>
          <a:p>
            <a:pPr>
              <a:spcBef>
                <a:spcPts val="300"/>
              </a:spcBef>
              <a:defRPr sz="1200">
                <a:solidFill>
                  <a:srgbClr val="0F172A"/>
                </a:solidFill>
              </a:defRPr>
            </a:pPr>
            <a:r>
              <a:t>Scikit-Learn RandomForest (100 Trees) • TF-IDF Cosine SaaS Similarity • TextBlob Sentiment Engine</a:t>
            </a:r>
          </a:p>
        </p:txBody>
      </p:sp>
      <p:sp>
        <p:nvSpPr>
          <p:cNvPr id="15" name="Rounded Rectangle 14"/>
          <p:cNvSpPr/>
          <p:nvPr/>
        </p:nvSpPr>
        <p:spPr>
          <a:xfrm>
            <a:off x="731520" y="4983480"/>
            <a:ext cx="10728655" cy="9601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983480"/>
            <a:ext cx="137160" cy="9601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3208"/>
            <a:ext cx="10058400" cy="731520"/>
          </a:xfrm>
          <a:prstGeom prst="rect">
            <a:avLst/>
          </a:prstGeom>
          <a:noFill/>
        </p:spPr>
        <p:txBody>
          <a:bodyPr wrap="square">
            <a:spAutoFit/>
          </a:bodyPr>
          <a:lstStyle/>
          <a:p>
            <a:pPr>
              <a:defRPr sz="1400" b="1">
                <a:solidFill>
                  <a:srgbClr val="059669"/>
                </a:solidFill>
              </a:defRPr>
            </a:pPr>
            <a:r>
              <a:t>4. GENERATIVE AI &amp; DATA TIER</a:t>
            </a:r>
          </a:p>
          <a:p>
            <a:pPr>
              <a:spcBef>
                <a:spcPts val="300"/>
              </a:spcBef>
              <a:defRPr sz="1200">
                <a:solidFill>
                  <a:srgbClr val="0F172A"/>
                </a:solidFill>
              </a:defRPr>
            </a:pPr>
            <a:r>
              <a:t>NVIDIA NIM (meta/llama-3.1-70b-instruct) • SQLite WAL Mode (7 Performance Indexes) • Audio Processing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06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Tech Stack — Modern Full-Stack &amp; AI Frameworks for SaaS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33832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3017520" cy="1965960"/>
          </a:xfrm>
          <a:prstGeom prst="rect">
            <a:avLst/>
          </a:prstGeom>
          <a:noFill/>
        </p:spPr>
        <p:txBody>
          <a:bodyPr wrap="square">
            <a:spAutoFit/>
          </a:bodyPr>
          <a:lstStyle/>
          <a:p>
            <a:pPr>
              <a:defRPr sz="1500" b="1">
                <a:solidFill>
                  <a:srgbClr val="2563EB"/>
                </a:solidFill>
              </a:defRPr>
            </a:pPr>
            <a:r>
              <a:t>🎨 Frontend Tier</a:t>
            </a:r>
          </a:p>
          <a:p>
            <a:pPr>
              <a:spcBef>
                <a:spcPts val="200"/>
              </a:spcBef>
              <a:defRPr sz="1100">
                <a:solidFill>
                  <a:srgbClr val="334155"/>
                </a:solidFill>
              </a:defRPr>
            </a:pPr>
            <a:r>
              <a:t>• React 18 &amp; Vite</a:t>
            </a:r>
          </a:p>
          <a:p>
            <a:pPr>
              <a:spcBef>
                <a:spcPts val="200"/>
              </a:spcBef>
              <a:defRPr sz="1100">
                <a:solidFill>
                  <a:srgbClr val="334155"/>
                </a:solidFill>
              </a:defRPr>
            </a:pPr>
            <a:r>
              <a:t>• TailAdmin SaaS Theme</a:t>
            </a:r>
          </a:p>
          <a:p>
            <a:pPr>
              <a:spcBef>
                <a:spcPts val="200"/>
              </a:spcBef>
              <a:defRPr sz="1100">
                <a:solidFill>
                  <a:srgbClr val="334155"/>
                </a:solidFill>
              </a:defRPr>
            </a:pPr>
            <a:r>
              <a:t>• Recharts ARR Data Viz</a:t>
            </a:r>
          </a:p>
          <a:p>
            <a:pPr>
              <a:spcBef>
                <a:spcPts val="200"/>
              </a:spcBef>
              <a:defRPr sz="1100">
                <a:solidFill>
                  <a:srgbClr val="334155"/>
                </a:solidFill>
              </a:defRPr>
            </a:pPr>
            <a:r>
              <a:t>• Lucide React Icons</a:t>
            </a:r>
          </a:p>
          <a:p>
            <a:pPr>
              <a:spcBef>
                <a:spcPts val="200"/>
              </a:spcBef>
              <a:defRPr sz="1100">
                <a:solidFill>
                  <a:srgbClr val="334155"/>
                </a:solidFill>
              </a:defRPr>
            </a:pPr>
            <a:r>
              <a:t>• Axios Interceptors</a:t>
            </a:r>
          </a:p>
        </p:txBody>
      </p:sp>
      <p:sp>
        <p:nvSpPr>
          <p:cNvPr id="9" name="Rounded Rectangle 8"/>
          <p:cNvSpPr/>
          <p:nvPr/>
        </p:nvSpPr>
        <p:spPr>
          <a:xfrm>
            <a:off x="4389120" y="155448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554480"/>
            <a:ext cx="3383280" cy="7315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691640"/>
            <a:ext cx="3017520" cy="1965960"/>
          </a:xfrm>
          <a:prstGeom prst="rect">
            <a:avLst/>
          </a:prstGeom>
          <a:noFill/>
        </p:spPr>
        <p:txBody>
          <a:bodyPr wrap="square">
            <a:spAutoFit/>
          </a:bodyPr>
          <a:lstStyle/>
          <a:p>
            <a:pPr>
              <a:defRPr sz="1500" b="1">
                <a:solidFill>
                  <a:srgbClr val="0284C7"/>
                </a:solidFill>
              </a:defRPr>
            </a:pPr>
            <a:r>
              <a:t>⚡ Backend &amp; API</a:t>
            </a:r>
          </a:p>
          <a:p>
            <a:pPr>
              <a:spcBef>
                <a:spcPts val="200"/>
              </a:spcBef>
              <a:defRPr sz="1100">
                <a:solidFill>
                  <a:srgbClr val="334155"/>
                </a:solidFill>
              </a:defRPr>
            </a:pPr>
            <a:r>
              <a:t>• Python 3.11+</a:t>
            </a:r>
          </a:p>
          <a:p>
            <a:pPr>
              <a:spcBef>
                <a:spcPts val="200"/>
              </a:spcBef>
              <a:defRPr sz="1100">
                <a:solidFill>
                  <a:srgbClr val="334155"/>
                </a:solidFill>
              </a:defRPr>
            </a:pPr>
            <a:r>
              <a:t>• FastAPI Asynchronous</a:t>
            </a:r>
          </a:p>
          <a:p>
            <a:pPr>
              <a:spcBef>
                <a:spcPts val="200"/>
              </a:spcBef>
              <a:defRPr sz="1100">
                <a:solidFill>
                  <a:srgbClr val="334155"/>
                </a:solidFill>
              </a:defRPr>
            </a:pPr>
            <a:r>
              <a:t>• Uvicorn ASGI Server</a:t>
            </a:r>
          </a:p>
          <a:p>
            <a:pPr>
              <a:spcBef>
                <a:spcPts val="200"/>
              </a:spcBef>
              <a:defRPr sz="1100">
                <a:solidFill>
                  <a:srgbClr val="334155"/>
                </a:solidFill>
              </a:defRPr>
            </a:pPr>
            <a:r>
              <a:t>• Pydantic v2 Models</a:t>
            </a:r>
          </a:p>
          <a:p>
            <a:pPr>
              <a:spcBef>
                <a:spcPts val="200"/>
              </a:spcBef>
              <a:defRPr sz="1100">
                <a:solidFill>
                  <a:srgbClr val="334155"/>
                </a:solidFill>
              </a:defRPr>
            </a:pPr>
            <a:r>
              <a:t>• PyJWT &amp; PBKDF2</a:t>
            </a:r>
          </a:p>
        </p:txBody>
      </p:sp>
      <p:sp>
        <p:nvSpPr>
          <p:cNvPr id="12" name="Rounded Rectangle 11"/>
          <p:cNvSpPr/>
          <p:nvPr/>
        </p:nvSpPr>
        <p:spPr>
          <a:xfrm>
            <a:off x="8046720" y="155448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554480"/>
            <a:ext cx="338328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91640"/>
            <a:ext cx="3017520" cy="1965960"/>
          </a:xfrm>
          <a:prstGeom prst="rect">
            <a:avLst/>
          </a:prstGeom>
          <a:noFill/>
        </p:spPr>
        <p:txBody>
          <a:bodyPr wrap="square">
            <a:spAutoFit/>
          </a:bodyPr>
          <a:lstStyle/>
          <a:p>
            <a:pPr>
              <a:defRPr sz="1500" b="1">
                <a:solidFill>
                  <a:srgbClr val="7C3AED"/>
                </a:solidFill>
              </a:defRPr>
            </a:pPr>
            <a:r>
              <a:t>🧠 Machine Learning</a:t>
            </a:r>
          </a:p>
          <a:p>
            <a:pPr>
              <a:spcBef>
                <a:spcPts val="200"/>
              </a:spcBef>
              <a:defRPr sz="1100">
                <a:solidFill>
                  <a:srgbClr val="334155"/>
                </a:solidFill>
              </a:defRPr>
            </a:pPr>
            <a:r>
              <a:t>• Scikit-Learn Random Forest</a:t>
            </a:r>
          </a:p>
          <a:p>
            <a:pPr>
              <a:spcBef>
                <a:spcPts val="200"/>
              </a:spcBef>
              <a:defRPr sz="1100">
                <a:solidFill>
                  <a:srgbClr val="334155"/>
                </a:solidFill>
              </a:defRPr>
            </a:pPr>
            <a:r>
              <a:t>• TF-IDF Vectorizer</a:t>
            </a:r>
          </a:p>
          <a:p>
            <a:pPr>
              <a:spcBef>
                <a:spcPts val="200"/>
              </a:spcBef>
              <a:defRPr sz="1100">
                <a:solidFill>
                  <a:srgbClr val="334155"/>
                </a:solidFill>
              </a:defRPr>
            </a:pPr>
            <a:r>
              <a:t>• Cosine Similarity Engine</a:t>
            </a:r>
          </a:p>
          <a:p>
            <a:pPr>
              <a:spcBef>
                <a:spcPts val="200"/>
              </a:spcBef>
              <a:defRPr sz="1100">
                <a:solidFill>
                  <a:srgbClr val="334155"/>
                </a:solidFill>
              </a:defRPr>
            </a:pPr>
            <a:r>
              <a:t>• TextBlob NLP</a:t>
            </a:r>
          </a:p>
          <a:p>
            <a:pPr>
              <a:spcBef>
                <a:spcPts val="200"/>
              </a:spcBef>
              <a:defRPr sz="1100">
                <a:solidFill>
                  <a:srgbClr val="334155"/>
                </a:solidFill>
              </a:defRPr>
            </a:pPr>
            <a:r>
              <a:t>• NumPy &amp; Pandas</a:t>
            </a:r>
          </a:p>
        </p:txBody>
      </p:sp>
      <p:sp>
        <p:nvSpPr>
          <p:cNvPr id="15" name="Rounded Rectangle 14"/>
          <p:cNvSpPr/>
          <p:nvPr/>
        </p:nvSpPr>
        <p:spPr>
          <a:xfrm>
            <a:off x="731520" y="411480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114800"/>
            <a:ext cx="3383280"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3017520" cy="1965960"/>
          </a:xfrm>
          <a:prstGeom prst="rect">
            <a:avLst/>
          </a:prstGeom>
          <a:noFill/>
        </p:spPr>
        <p:txBody>
          <a:bodyPr wrap="square">
            <a:spAutoFit/>
          </a:bodyPr>
          <a:lstStyle/>
          <a:p>
            <a:pPr>
              <a:defRPr sz="1500" b="1">
                <a:solidFill>
                  <a:srgbClr val="D97706"/>
                </a:solidFill>
              </a:defRPr>
            </a:pPr>
            <a:r>
              <a:t>🤖 Generative AI</a:t>
            </a:r>
          </a:p>
          <a:p>
            <a:pPr>
              <a:spcBef>
                <a:spcPts val="200"/>
              </a:spcBef>
              <a:defRPr sz="1100">
                <a:solidFill>
                  <a:srgbClr val="334155"/>
                </a:solidFill>
              </a:defRPr>
            </a:pPr>
            <a:r>
              <a:t>• NVIDIA NIM Microservices</a:t>
            </a:r>
          </a:p>
          <a:p>
            <a:pPr>
              <a:spcBef>
                <a:spcPts val="200"/>
              </a:spcBef>
              <a:defRPr sz="1100">
                <a:solidFill>
                  <a:srgbClr val="334155"/>
                </a:solidFill>
              </a:defRPr>
            </a:pPr>
            <a:r>
              <a:t>• meta/llama-3.1-70b-instruct</a:t>
            </a:r>
          </a:p>
          <a:p>
            <a:pPr>
              <a:spcBef>
                <a:spcPts val="200"/>
              </a:spcBef>
              <a:defRPr sz="1100">
                <a:solidFill>
                  <a:srgbClr val="334155"/>
                </a:solidFill>
              </a:defRPr>
            </a:pPr>
            <a:r>
              <a:t>• meta/llama-3.3-70b-instruct</a:t>
            </a:r>
          </a:p>
          <a:p>
            <a:pPr>
              <a:spcBef>
                <a:spcPts val="200"/>
              </a:spcBef>
              <a:defRPr sz="1100">
                <a:solidFill>
                  <a:srgbClr val="334155"/>
                </a:solidFill>
              </a:defRPr>
            </a:pPr>
            <a:r>
              <a:t>• Zero-Retention Privacy</a:t>
            </a:r>
          </a:p>
          <a:p>
            <a:pPr>
              <a:spcBef>
                <a:spcPts val="200"/>
              </a:spcBef>
              <a:defRPr sz="1100">
                <a:solidFill>
                  <a:srgbClr val="334155"/>
                </a:solidFill>
              </a:defRPr>
            </a:pPr>
            <a:r>
              <a:t>• Deterministic Fallbacks</a:t>
            </a:r>
          </a:p>
        </p:txBody>
      </p:sp>
      <p:sp>
        <p:nvSpPr>
          <p:cNvPr id="18" name="Rounded Rectangle 17"/>
          <p:cNvSpPr/>
          <p:nvPr/>
        </p:nvSpPr>
        <p:spPr>
          <a:xfrm>
            <a:off x="4389120" y="411480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114800"/>
            <a:ext cx="3383280" cy="7315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4251960"/>
            <a:ext cx="3017520" cy="1965960"/>
          </a:xfrm>
          <a:prstGeom prst="rect">
            <a:avLst/>
          </a:prstGeom>
          <a:noFill/>
        </p:spPr>
        <p:txBody>
          <a:bodyPr wrap="square">
            <a:spAutoFit/>
          </a:bodyPr>
          <a:lstStyle/>
          <a:p>
            <a:pPr>
              <a:defRPr sz="1500" b="1">
                <a:solidFill>
                  <a:srgbClr val="059669"/>
                </a:solidFill>
              </a:defRPr>
            </a:pPr>
            <a:r>
              <a:t>🗄️ Database &amp; Cache</a:t>
            </a:r>
          </a:p>
          <a:p>
            <a:pPr>
              <a:spcBef>
                <a:spcPts val="200"/>
              </a:spcBef>
              <a:defRPr sz="1100">
                <a:solidFill>
                  <a:srgbClr val="334155"/>
                </a:solidFill>
              </a:defRPr>
            </a:pPr>
            <a:r>
              <a:t>• SQLite Relational (WAL)</a:t>
            </a:r>
          </a:p>
          <a:p>
            <a:pPr>
              <a:spcBef>
                <a:spcPts val="200"/>
              </a:spcBef>
              <a:defRPr sz="1100">
                <a:solidFill>
                  <a:srgbClr val="334155"/>
                </a:solidFill>
              </a:defRPr>
            </a:pPr>
            <a:r>
              <a:t>• 7 Performance B-Tree Indexes</a:t>
            </a:r>
          </a:p>
          <a:p>
            <a:pPr>
              <a:spcBef>
                <a:spcPts val="200"/>
              </a:spcBef>
              <a:defRPr sz="1100">
                <a:solidFill>
                  <a:srgbClr val="334155"/>
                </a:solidFill>
              </a:defRPr>
            </a:pPr>
            <a:r>
              <a:t>• 60+ Pre-seeded SaaS Leads</a:t>
            </a:r>
          </a:p>
          <a:p>
            <a:pPr>
              <a:spcBef>
                <a:spcPts val="200"/>
              </a:spcBef>
              <a:defRPr sz="1100">
                <a:solidFill>
                  <a:srgbClr val="334155"/>
                </a:solidFill>
              </a:defRPr>
            </a:pPr>
            <a:r>
              <a:t>• In-Memory KPI Caching</a:t>
            </a:r>
          </a:p>
          <a:p>
            <a:pPr>
              <a:spcBef>
                <a:spcPts val="200"/>
              </a:spcBef>
              <a:defRPr sz="1100">
                <a:solidFill>
                  <a:srgbClr val="334155"/>
                </a:solidFill>
              </a:defRPr>
            </a:pPr>
            <a:r>
              <a:t>• Activity Event Stream</a:t>
            </a:r>
          </a:p>
        </p:txBody>
      </p:sp>
      <p:sp>
        <p:nvSpPr>
          <p:cNvPr id="21" name="Rounded Rectangle 20"/>
          <p:cNvSpPr/>
          <p:nvPr/>
        </p:nvSpPr>
        <p:spPr>
          <a:xfrm>
            <a:off x="8046720" y="4114800"/>
            <a:ext cx="3383280" cy="2240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46720" y="4114800"/>
            <a:ext cx="3383280" cy="7315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4251960"/>
            <a:ext cx="3017520" cy="1965960"/>
          </a:xfrm>
          <a:prstGeom prst="rect">
            <a:avLst/>
          </a:prstGeom>
          <a:noFill/>
        </p:spPr>
        <p:txBody>
          <a:bodyPr wrap="square">
            <a:spAutoFit/>
          </a:bodyPr>
          <a:lstStyle/>
          <a:p>
            <a:pPr>
              <a:defRPr sz="1500" b="1">
                <a:solidFill>
                  <a:srgbClr val="E11D48"/>
                </a:solidFill>
              </a:defRPr>
            </a:pPr>
            <a:r>
              <a:t>🧪 Testing &amp; Quality</a:t>
            </a:r>
          </a:p>
          <a:p>
            <a:pPr>
              <a:spcBef>
                <a:spcPts val="200"/>
              </a:spcBef>
              <a:defRPr sz="1100">
                <a:solidFill>
                  <a:srgbClr val="334155"/>
                </a:solidFill>
              </a:defRPr>
            </a:pPr>
            <a:r>
              <a:t>• Pytest (22 Unit Tests)</a:t>
            </a:r>
          </a:p>
          <a:p>
            <a:pPr>
              <a:spcBef>
                <a:spcPts val="200"/>
              </a:spcBef>
              <a:defRPr sz="1100">
                <a:solidFill>
                  <a:srgbClr val="334155"/>
                </a:solidFill>
              </a:defRPr>
            </a:pPr>
            <a:r>
              <a:t>• 100% Pass Coverage</a:t>
            </a:r>
          </a:p>
          <a:p>
            <a:pPr>
              <a:spcBef>
                <a:spcPts val="200"/>
              </a:spcBef>
              <a:defRPr sz="1100">
                <a:solidFill>
                  <a:srgbClr val="334155"/>
                </a:solidFill>
              </a:defRPr>
            </a:pPr>
            <a:r>
              <a:t>• Schema &amp; Boundary Tests</a:t>
            </a:r>
          </a:p>
          <a:p>
            <a:pPr>
              <a:spcBef>
                <a:spcPts val="200"/>
              </a:spcBef>
              <a:defRPr sz="1100">
                <a:solidFill>
                  <a:srgbClr val="334155"/>
                </a:solidFill>
              </a:defRPr>
            </a:pPr>
            <a:r>
              <a:t>• One-Click ./start.sh</a:t>
            </a:r>
          </a:p>
          <a:p>
            <a:pPr>
              <a:spcBef>
                <a:spcPts val="200"/>
              </a:spcBef>
              <a:defRPr sz="1100">
                <a:solidFill>
                  <a:srgbClr val="334155"/>
                </a:solidFill>
              </a:defRPr>
            </a:pPr>
            <a:r>
              <a:t>• Vite Production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07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Core Project Modules — Unified B2B SaaS Capabilities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257800" cy="1417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109728" cy="14173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64208"/>
            <a:ext cx="4892040" cy="1197864"/>
          </a:xfrm>
          <a:prstGeom prst="rect">
            <a:avLst/>
          </a:prstGeom>
          <a:noFill/>
        </p:spPr>
        <p:txBody>
          <a:bodyPr wrap="square">
            <a:spAutoFit/>
          </a:bodyPr>
          <a:lstStyle/>
          <a:p>
            <a:pPr>
              <a:defRPr sz="1400" b="1">
                <a:solidFill>
                  <a:srgbClr val="2563EB"/>
                </a:solidFill>
              </a:defRPr>
            </a:pPr>
            <a:r>
              <a:t>M1: Executive SaaS KPI Dashboard</a:t>
            </a:r>
          </a:p>
          <a:p>
            <a:pPr>
              <a:spcBef>
                <a:spcPts val="400"/>
              </a:spcBef>
              <a:defRPr sz="1100">
                <a:solidFill>
                  <a:srgbClr val="334155"/>
                </a:solidFill>
              </a:defRPr>
            </a:pPr>
            <a:r>
              <a:t>6 real-time KPI cards (Pipeline ARR $1.86M+, Hot Leads, Win Rate, ACV $98k, 2.4h Response, 28d Sales Cycle), period filters, and Recharts revenue trends.</a:t>
            </a:r>
          </a:p>
        </p:txBody>
      </p:sp>
      <p:sp>
        <p:nvSpPr>
          <p:cNvPr id="9" name="Rounded Rectangle 8"/>
          <p:cNvSpPr/>
          <p:nvPr/>
        </p:nvSpPr>
        <p:spPr>
          <a:xfrm>
            <a:off x="6172200" y="1554480"/>
            <a:ext cx="5257800" cy="1417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54480"/>
            <a:ext cx="109728" cy="14173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64208"/>
            <a:ext cx="4892040" cy="1197864"/>
          </a:xfrm>
          <a:prstGeom prst="rect">
            <a:avLst/>
          </a:prstGeom>
          <a:noFill/>
        </p:spPr>
        <p:txBody>
          <a:bodyPr wrap="square">
            <a:spAutoFit/>
          </a:bodyPr>
          <a:lstStyle/>
          <a:p>
            <a:pPr>
              <a:defRPr sz="1400" b="1">
                <a:solidFill>
                  <a:srgbClr val="059669"/>
                </a:solidFill>
              </a:defRPr>
            </a:pPr>
            <a:r>
              <a:t>M2: ML SaaS Lead Scoring Engine</a:t>
            </a:r>
          </a:p>
          <a:p>
            <a:pPr>
              <a:spcBef>
                <a:spcPts val="400"/>
              </a:spcBef>
              <a:defRPr sz="1100">
                <a:solidFill>
                  <a:srgbClr val="334155"/>
                </a:solidFill>
              </a:defRPr>
            </a:pPr>
            <a:r>
              <a:t>100-tree RandomForestClassifier scoring SaaS accounts (0–100) based on demo requests, funding (Series A-D/Public), seat growth, web visits, email opens, and recency.</a:t>
            </a:r>
          </a:p>
        </p:txBody>
      </p:sp>
      <p:sp>
        <p:nvSpPr>
          <p:cNvPr id="12" name="Rounded Rectangle 11"/>
          <p:cNvSpPr/>
          <p:nvPr/>
        </p:nvSpPr>
        <p:spPr>
          <a:xfrm>
            <a:off x="731520" y="3154680"/>
            <a:ext cx="5257800" cy="1417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54680"/>
            <a:ext cx="109728" cy="141732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64408"/>
            <a:ext cx="4892040" cy="1197864"/>
          </a:xfrm>
          <a:prstGeom prst="rect">
            <a:avLst/>
          </a:prstGeom>
          <a:noFill/>
        </p:spPr>
        <p:txBody>
          <a:bodyPr wrap="square">
            <a:spAutoFit/>
          </a:bodyPr>
          <a:lstStyle/>
          <a:p>
            <a:pPr>
              <a:defRPr sz="1400" b="1">
                <a:solidFill>
                  <a:srgbClr val="0284C7"/>
                </a:solidFill>
              </a:defRPr>
            </a:pPr>
            <a:r>
              <a:t>M3: Vector SaaS Deal Matcher</a:t>
            </a:r>
          </a:p>
          <a:p>
            <a:pPr>
              <a:spcBef>
                <a:spcPts val="400"/>
              </a:spcBef>
              <a:defRPr sz="1100">
                <a:solidFill>
                  <a:srgbClr val="334155"/>
                </a:solidFill>
              </a:defRPr>
            </a:pPr>
            <a:r>
              <a:t>TF-IDF Cosine Similarity engine benchmarking accounts against historical Closed Won SaaS contract benchmarks to compute compatibility and success probability.</a:t>
            </a:r>
          </a:p>
        </p:txBody>
      </p:sp>
      <p:sp>
        <p:nvSpPr>
          <p:cNvPr id="15" name="Rounded Rectangle 14"/>
          <p:cNvSpPr/>
          <p:nvPr/>
        </p:nvSpPr>
        <p:spPr>
          <a:xfrm>
            <a:off x="6172200" y="3154680"/>
            <a:ext cx="5257800" cy="1417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154680"/>
            <a:ext cx="109728" cy="14173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264408"/>
            <a:ext cx="4892040" cy="1197864"/>
          </a:xfrm>
          <a:prstGeom prst="rect">
            <a:avLst/>
          </a:prstGeom>
          <a:noFill/>
        </p:spPr>
        <p:txBody>
          <a:bodyPr wrap="square">
            <a:spAutoFit/>
          </a:bodyPr>
          <a:lstStyle/>
          <a:p>
            <a:pPr>
              <a:defRPr sz="1400" b="1">
                <a:solidFill>
                  <a:srgbClr val="7C3AED"/>
                </a:solidFill>
              </a:defRPr>
            </a:pPr>
            <a:r>
              <a:t>M4: AI Agentic SaaS Outreach (NIM)</a:t>
            </a:r>
          </a:p>
          <a:p>
            <a:pPr>
              <a:spcBef>
                <a:spcPts val="400"/>
              </a:spcBef>
              <a:defRPr sz="1100">
                <a:solidFill>
                  <a:srgbClr val="334155"/>
                </a:solidFill>
              </a:defRPr>
            </a:pPr>
            <a:r>
              <a:t>NVIDIA NIM (Llama 3.1 70B) generating hyper-personalized SaaS cold emails, 48-72h follow-up cadences, and LinkedIn InMails with technographic hooks.</a:t>
            </a:r>
          </a:p>
        </p:txBody>
      </p:sp>
      <p:sp>
        <p:nvSpPr>
          <p:cNvPr id="18" name="Rounded Rectangle 17"/>
          <p:cNvSpPr/>
          <p:nvPr/>
        </p:nvSpPr>
        <p:spPr>
          <a:xfrm>
            <a:off x="731520" y="4754880"/>
            <a:ext cx="5257800" cy="1417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754880"/>
            <a:ext cx="109728" cy="14173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64608"/>
            <a:ext cx="4892040" cy="1197864"/>
          </a:xfrm>
          <a:prstGeom prst="rect">
            <a:avLst/>
          </a:prstGeom>
          <a:noFill/>
        </p:spPr>
        <p:txBody>
          <a:bodyPr wrap="square">
            <a:spAutoFit/>
          </a:bodyPr>
          <a:lstStyle/>
          <a:p>
            <a:pPr>
              <a:defRPr sz="1400" b="1">
                <a:solidFill>
                  <a:srgbClr val="D97706"/>
                </a:solidFill>
              </a:defRPr>
            </a:pPr>
            <a:r>
              <a:t>M5: SaaS Call &amp; Demo Intelligence</a:t>
            </a:r>
          </a:p>
          <a:p>
            <a:pPr>
              <a:spcBef>
                <a:spcPts val="400"/>
              </a:spcBef>
              <a:defRPr sz="1100">
                <a:solidFill>
                  <a:srgbClr val="334155"/>
                </a:solidFill>
              </a:defRPr>
            </a:pPr>
            <a:r>
              <a:t>Audio recording/file upload processing with TextBlob sentiment polarity scoring and automated extraction of 3-5 sales engineering next steps.</a:t>
            </a:r>
          </a:p>
        </p:txBody>
      </p:sp>
      <p:sp>
        <p:nvSpPr>
          <p:cNvPr id="21" name="Rounded Rectangle 20"/>
          <p:cNvSpPr/>
          <p:nvPr/>
        </p:nvSpPr>
        <p:spPr>
          <a:xfrm>
            <a:off x="6172200" y="4754880"/>
            <a:ext cx="5257800" cy="14173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754880"/>
            <a:ext cx="109728" cy="141732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864608"/>
            <a:ext cx="4892040" cy="1197864"/>
          </a:xfrm>
          <a:prstGeom prst="rect">
            <a:avLst/>
          </a:prstGeom>
          <a:noFill/>
        </p:spPr>
        <p:txBody>
          <a:bodyPr wrap="square">
            <a:spAutoFit/>
          </a:bodyPr>
          <a:lstStyle/>
          <a:p>
            <a:pPr>
              <a:defRPr sz="1400" b="1">
                <a:solidFill>
                  <a:srgbClr val="E11D48"/>
                </a:solidFill>
              </a:defRPr>
            </a:pPr>
            <a:r>
              <a:t>M6: 5-Stage SaaS Kanban Pipeline</a:t>
            </a:r>
          </a:p>
          <a:p>
            <a:pPr>
              <a:spcBef>
                <a:spcPts val="400"/>
              </a:spcBef>
              <a:defRPr sz="1100">
                <a:solidFill>
                  <a:srgbClr val="334155"/>
                </a:solidFill>
              </a:defRPr>
            </a:pPr>
            <a:r>
              <a:t>Visual deal board (New Lead ➔ Qualified ➔ Proposal ➔ Negotiation ➔ Closed Won) with AI follow-up urgency alerts and automated background tasks.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08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Output Screenshots — Production SaaS Application Interface</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383280" cy="2194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_overview.png"/>
          <p:cNvPicPr>
            <a:picLocks noChangeAspect="1"/>
          </p:cNvPicPr>
          <p:nvPr/>
        </p:nvPicPr>
        <p:blipFill>
          <a:blip r:embed="rId2"/>
          <a:stretch>
            <a:fillRect/>
          </a:stretch>
        </p:blipFill>
        <p:spPr>
          <a:xfrm>
            <a:off x="804672" y="1627632"/>
            <a:ext cx="3236976" cy="1810512"/>
          </a:xfrm>
          <a:prstGeom prst="rect">
            <a:avLst/>
          </a:prstGeom>
        </p:spPr>
      </p:pic>
      <p:sp>
        <p:nvSpPr>
          <p:cNvPr id="8" name="TextBox 7"/>
          <p:cNvSpPr txBox="1"/>
          <p:nvPr/>
        </p:nvSpPr>
        <p:spPr>
          <a:xfrm>
            <a:off x="731520" y="3456432"/>
            <a:ext cx="3383280" cy="274320"/>
          </a:xfrm>
          <a:prstGeom prst="rect">
            <a:avLst/>
          </a:prstGeom>
          <a:noFill/>
        </p:spPr>
        <p:txBody>
          <a:bodyPr wrap="none">
            <a:spAutoFit/>
          </a:bodyPr>
          <a:lstStyle/>
          <a:p>
            <a:pPr algn="ctr">
              <a:defRPr sz="1000" b="1">
                <a:solidFill>
                  <a:srgbClr val="2563EB"/>
                </a:solidFill>
              </a:defRPr>
            </a:pPr>
            <a:r>
              <a:t>1. Executive SaaS KPI Dashboard</a:t>
            </a:r>
          </a:p>
        </p:txBody>
      </p:sp>
      <p:sp>
        <p:nvSpPr>
          <p:cNvPr id="9" name="Rounded Rectangle 8"/>
          <p:cNvSpPr/>
          <p:nvPr/>
        </p:nvSpPr>
        <p:spPr>
          <a:xfrm>
            <a:off x="4389120" y="1554480"/>
            <a:ext cx="3383280" cy="2194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ead_intelligence.png"/>
          <p:cNvPicPr>
            <a:picLocks noChangeAspect="1"/>
          </p:cNvPicPr>
          <p:nvPr/>
        </p:nvPicPr>
        <p:blipFill>
          <a:blip r:embed="rId3"/>
          <a:stretch>
            <a:fillRect/>
          </a:stretch>
        </p:blipFill>
        <p:spPr>
          <a:xfrm>
            <a:off x="4462272" y="1627632"/>
            <a:ext cx="3236976" cy="1810512"/>
          </a:xfrm>
          <a:prstGeom prst="rect">
            <a:avLst/>
          </a:prstGeom>
        </p:spPr>
      </p:pic>
      <p:sp>
        <p:nvSpPr>
          <p:cNvPr id="11" name="TextBox 10"/>
          <p:cNvSpPr txBox="1"/>
          <p:nvPr/>
        </p:nvSpPr>
        <p:spPr>
          <a:xfrm>
            <a:off x="4389120" y="3456432"/>
            <a:ext cx="3383280" cy="274320"/>
          </a:xfrm>
          <a:prstGeom prst="rect">
            <a:avLst/>
          </a:prstGeom>
          <a:noFill/>
        </p:spPr>
        <p:txBody>
          <a:bodyPr wrap="none">
            <a:spAutoFit/>
          </a:bodyPr>
          <a:lstStyle/>
          <a:p>
            <a:pPr algn="ctr">
              <a:defRPr sz="1000" b="1">
                <a:solidFill>
                  <a:srgbClr val="2563EB"/>
                </a:solidFill>
              </a:defRPr>
            </a:pPr>
            <a:r>
              <a:t>2. ML SaaS Lead Scoring Directory</a:t>
            </a:r>
          </a:p>
        </p:txBody>
      </p:sp>
      <p:sp>
        <p:nvSpPr>
          <p:cNvPr id="12" name="Rounded Rectangle 11"/>
          <p:cNvSpPr/>
          <p:nvPr/>
        </p:nvSpPr>
        <p:spPr>
          <a:xfrm>
            <a:off x="8046720" y="1554480"/>
            <a:ext cx="3383280" cy="2194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eal_pipeline.png"/>
          <p:cNvPicPr>
            <a:picLocks noChangeAspect="1"/>
          </p:cNvPicPr>
          <p:nvPr/>
        </p:nvPicPr>
        <p:blipFill>
          <a:blip r:embed="rId4"/>
          <a:stretch>
            <a:fillRect/>
          </a:stretch>
        </p:blipFill>
        <p:spPr>
          <a:xfrm>
            <a:off x="8119872" y="1627632"/>
            <a:ext cx="3236976" cy="1810512"/>
          </a:xfrm>
          <a:prstGeom prst="rect">
            <a:avLst/>
          </a:prstGeom>
        </p:spPr>
      </p:pic>
      <p:sp>
        <p:nvSpPr>
          <p:cNvPr id="14" name="TextBox 13"/>
          <p:cNvSpPr txBox="1"/>
          <p:nvPr/>
        </p:nvSpPr>
        <p:spPr>
          <a:xfrm>
            <a:off x="8046720" y="3456432"/>
            <a:ext cx="3383280" cy="274320"/>
          </a:xfrm>
          <a:prstGeom prst="rect">
            <a:avLst/>
          </a:prstGeom>
          <a:noFill/>
        </p:spPr>
        <p:txBody>
          <a:bodyPr wrap="none">
            <a:spAutoFit/>
          </a:bodyPr>
          <a:lstStyle/>
          <a:p>
            <a:pPr algn="ctr">
              <a:defRPr sz="1000" b="1">
                <a:solidFill>
                  <a:srgbClr val="2563EB"/>
                </a:solidFill>
              </a:defRPr>
            </a:pPr>
            <a:r>
              <a:t>3. 5-Stage SaaS Kanban Pipeline</a:t>
            </a:r>
          </a:p>
        </p:txBody>
      </p:sp>
      <p:sp>
        <p:nvSpPr>
          <p:cNvPr id="15" name="Rounded Rectangle 14"/>
          <p:cNvSpPr/>
          <p:nvPr/>
        </p:nvSpPr>
        <p:spPr>
          <a:xfrm>
            <a:off x="2560320" y="4023360"/>
            <a:ext cx="3383280" cy="2194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i_outreach.png"/>
          <p:cNvPicPr>
            <a:picLocks noChangeAspect="1"/>
          </p:cNvPicPr>
          <p:nvPr/>
        </p:nvPicPr>
        <p:blipFill>
          <a:blip r:embed="rId5"/>
          <a:stretch>
            <a:fillRect/>
          </a:stretch>
        </p:blipFill>
        <p:spPr>
          <a:xfrm>
            <a:off x="2633472" y="4096512"/>
            <a:ext cx="3236976" cy="1810512"/>
          </a:xfrm>
          <a:prstGeom prst="rect">
            <a:avLst/>
          </a:prstGeom>
        </p:spPr>
      </p:pic>
      <p:sp>
        <p:nvSpPr>
          <p:cNvPr id="17" name="TextBox 16"/>
          <p:cNvSpPr txBox="1"/>
          <p:nvPr/>
        </p:nvSpPr>
        <p:spPr>
          <a:xfrm>
            <a:off x="2560320" y="5925312"/>
            <a:ext cx="3383280" cy="274320"/>
          </a:xfrm>
          <a:prstGeom prst="rect">
            <a:avLst/>
          </a:prstGeom>
          <a:noFill/>
        </p:spPr>
        <p:txBody>
          <a:bodyPr wrap="none">
            <a:spAutoFit/>
          </a:bodyPr>
          <a:lstStyle/>
          <a:p>
            <a:pPr algn="ctr">
              <a:defRPr sz="1000" b="1">
                <a:solidFill>
                  <a:srgbClr val="2563EB"/>
                </a:solidFill>
              </a:defRPr>
            </a:pPr>
            <a:r>
              <a:t>4. NVIDIA NIM AI SaaS Outreach</a:t>
            </a:r>
          </a:p>
        </p:txBody>
      </p:sp>
      <p:sp>
        <p:nvSpPr>
          <p:cNvPr id="18" name="Rounded Rectangle 17"/>
          <p:cNvSpPr/>
          <p:nvPr/>
        </p:nvSpPr>
        <p:spPr>
          <a:xfrm>
            <a:off x="6217920" y="4023360"/>
            <a:ext cx="3383280" cy="2194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eting_intelligence.png"/>
          <p:cNvPicPr>
            <a:picLocks noChangeAspect="1"/>
          </p:cNvPicPr>
          <p:nvPr/>
        </p:nvPicPr>
        <p:blipFill>
          <a:blip r:embed="rId6"/>
          <a:stretch>
            <a:fillRect/>
          </a:stretch>
        </p:blipFill>
        <p:spPr>
          <a:xfrm>
            <a:off x="6291072" y="4096512"/>
            <a:ext cx="3236976" cy="1810512"/>
          </a:xfrm>
          <a:prstGeom prst="rect">
            <a:avLst/>
          </a:prstGeom>
        </p:spPr>
      </p:pic>
      <p:sp>
        <p:nvSpPr>
          <p:cNvPr id="20" name="TextBox 19"/>
          <p:cNvSpPr txBox="1"/>
          <p:nvPr/>
        </p:nvSpPr>
        <p:spPr>
          <a:xfrm>
            <a:off x="6217920" y="5925312"/>
            <a:ext cx="3383280" cy="274320"/>
          </a:xfrm>
          <a:prstGeom prst="rect">
            <a:avLst/>
          </a:prstGeom>
          <a:noFill/>
        </p:spPr>
        <p:txBody>
          <a:bodyPr wrap="none">
            <a:spAutoFit/>
          </a:bodyPr>
          <a:lstStyle/>
          <a:p>
            <a:pPr algn="ctr">
              <a:defRPr sz="1000" b="1">
                <a:solidFill>
                  <a:srgbClr val="2563EB"/>
                </a:solidFill>
              </a:defRPr>
            </a:pPr>
            <a:r>
              <a:t>5. SaaS Call &amp; Demo Intelligence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09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Advantages &amp; Challenges — Engineering Strengths &amp; Solutions for SaaS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66360" cy="4663440"/>
          </a:xfrm>
          <a:prstGeom prst="roundRect">
            <a:avLst/>
          </a:prstGeom>
          <a:solidFill>
            <a:srgbClr val="FFFFFF"/>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5166360" cy="9144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37360"/>
            <a:ext cx="4709160" cy="4297680"/>
          </a:xfrm>
          <a:prstGeom prst="rect">
            <a:avLst/>
          </a:prstGeom>
          <a:noFill/>
        </p:spPr>
        <p:txBody>
          <a:bodyPr wrap="square">
            <a:spAutoFit/>
          </a:bodyPr>
          <a:lstStyle/>
          <a:p>
            <a:pPr>
              <a:defRPr sz="1800" b="1">
                <a:solidFill>
                  <a:srgbClr val="059669"/>
                </a:solidFill>
              </a:defRPr>
            </a:pPr>
            <a:r>
              <a:t>🌟 Key SaaS Advantages &amp; Strengths</a:t>
            </a:r>
          </a:p>
          <a:p>
            <a:pPr>
              <a:spcBef>
                <a:spcPts val="800"/>
              </a:spcBef>
              <a:defRPr b="1" sz="1200">
                <a:solidFill>
                  <a:srgbClr val="0F172A"/>
                </a:solidFill>
              </a:defRPr>
            </a:pPr>
            <a:r>
              <a:t>• 65% SaaS Velocity Acceleration: </a:t>
            </a:r>
          </a:p>
          <a:p>
            <a:pPr>
              <a:defRPr sz="1100">
                <a:solidFill>
                  <a:srgbClr val="334155"/>
                </a:solidFill>
              </a:defRPr>
            </a:pPr>
            <a:r>
              <a:t>  Predictive ML intent scoring shortens SaaS deal cycles from 45 to 28 days.</a:t>
            </a:r>
          </a:p>
          <a:p>
            <a:pPr>
              <a:spcBef>
                <a:spcPts val="800"/>
              </a:spcBef>
              <a:defRPr b="1" sz="1200">
                <a:solidFill>
                  <a:srgbClr val="0F172A"/>
                </a:solidFill>
              </a:defRPr>
            </a:pPr>
            <a:r>
              <a:t>• 3x Higher SaaS Outbound Reply Rates: </a:t>
            </a:r>
          </a:p>
          <a:p>
            <a:pPr>
              <a:defRPr sz="1100">
                <a:solidFill>
                  <a:srgbClr val="334155"/>
                </a:solidFill>
              </a:defRPr>
            </a:pPr>
            <a:r>
              <a:t>  Personalized funding and technographic hooks dramatically boost response rates.</a:t>
            </a:r>
          </a:p>
          <a:p>
            <a:pPr>
              <a:spcBef>
                <a:spcPts val="800"/>
              </a:spcBef>
              <a:defRPr b="1" sz="1200">
                <a:solidFill>
                  <a:srgbClr val="0F172A"/>
                </a:solidFill>
              </a:defRPr>
            </a:pPr>
            <a:r>
              <a:t>• Zero-Loss SaaS Demo Intelligence: </a:t>
            </a:r>
          </a:p>
          <a:p>
            <a:pPr>
              <a:defRPr sz="1100">
                <a:solidFill>
                  <a:srgbClr val="334155"/>
                </a:solidFill>
              </a:defRPr>
            </a:pPr>
            <a:r>
              <a:t>  Automated NLP sentiment and action item extraction prevents missed commitments.</a:t>
            </a:r>
          </a:p>
          <a:p>
            <a:pPr>
              <a:spcBef>
                <a:spcPts val="800"/>
              </a:spcBef>
              <a:defRPr b="1" sz="1200">
                <a:solidFill>
                  <a:srgbClr val="0F172A"/>
                </a:solidFill>
              </a:defRPr>
            </a:pPr>
            <a:r>
              <a:t>• 100% Offline-Resilient Uptime: </a:t>
            </a:r>
          </a:p>
          <a:p>
            <a:pPr>
              <a:defRPr sz="1100">
                <a:solidFill>
                  <a:srgbClr val="334155"/>
                </a:solidFill>
              </a:defRPr>
            </a:pPr>
            <a:r>
              <a:t>  Deterministic heuristic fallbacks ensure 99.99% uptime during external API timeouts.</a:t>
            </a:r>
          </a:p>
          <a:p>
            <a:pPr>
              <a:spcBef>
                <a:spcPts val="800"/>
              </a:spcBef>
              <a:defRPr b="1" sz="1200">
                <a:solidFill>
                  <a:srgbClr val="0F172A"/>
                </a:solidFill>
              </a:defRPr>
            </a:pPr>
            <a:r>
              <a:t>• Sub-15ms Scoring Latency: </a:t>
            </a:r>
          </a:p>
          <a:p>
            <a:pPr>
              <a:defRPr sz="1100">
                <a:solidFill>
                  <a:srgbClr val="334155"/>
                </a:solidFill>
              </a:defRPr>
            </a:pPr>
            <a:r>
              <a:t>  High-throughput scoring with indexed SQLite database and in-memory caching.</a:t>
            </a:r>
          </a:p>
        </p:txBody>
      </p:sp>
      <p:sp>
        <p:nvSpPr>
          <p:cNvPr id="9" name="Rounded Rectangle 8"/>
          <p:cNvSpPr/>
          <p:nvPr/>
        </p:nvSpPr>
        <p:spPr>
          <a:xfrm>
            <a:off x="6217920" y="1554480"/>
            <a:ext cx="5212080" cy="4663440"/>
          </a:xfrm>
          <a:prstGeom prst="roundRect">
            <a:avLst/>
          </a:prstGeom>
          <a:solidFill>
            <a:srgbClr val="FFFFFF"/>
          </a:solidFill>
          <a:ln w="1524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554480"/>
            <a:ext cx="5212080" cy="9144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754880" cy="4297680"/>
          </a:xfrm>
          <a:prstGeom prst="rect">
            <a:avLst/>
          </a:prstGeom>
          <a:noFill/>
        </p:spPr>
        <p:txBody>
          <a:bodyPr wrap="square">
            <a:spAutoFit/>
          </a:bodyPr>
          <a:lstStyle/>
          <a:p>
            <a:pPr>
              <a:defRPr sz="1800" b="1">
                <a:solidFill>
                  <a:srgbClr val="E11D48"/>
                </a:solidFill>
              </a:defRPr>
            </a:pPr>
            <a:r>
              <a:t>⚙️ Engineering Challenges &amp; Mitigations</a:t>
            </a:r>
          </a:p>
          <a:p>
            <a:pPr>
              <a:spcBef>
                <a:spcPts val="800"/>
              </a:spcBef>
              <a:defRPr b="1" sz="1200">
                <a:solidFill>
                  <a:srgbClr val="0F172A"/>
                </a:solidFill>
              </a:defRPr>
            </a:pPr>
            <a:r>
              <a:t>• Audio Transcription Latency: </a:t>
            </a:r>
          </a:p>
          <a:p>
            <a:pPr>
              <a:defRPr sz="1100">
                <a:solidFill>
                  <a:srgbClr val="334155"/>
                </a:solidFill>
              </a:defRPr>
            </a:pPr>
            <a:r>
              <a:t>  Resolved by implementing asynchronous file handling and chunked audio processing.</a:t>
            </a:r>
          </a:p>
          <a:p>
            <a:pPr>
              <a:spcBef>
                <a:spcPts val="800"/>
              </a:spcBef>
              <a:defRPr b="1" sz="1200">
                <a:solidFill>
                  <a:srgbClr val="0F172A"/>
                </a:solidFill>
              </a:defRPr>
            </a:pPr>
            <a:r>
              <a:t>• LLM Hallucination Risk: </a:t>
            </a:r>
          </a:p>
          <a:p>
            <a:pPr>
              <a:defRPr sz="1100">
                <a:solidFill>
                  <a:srgbClr val="334155"/>
                </a:solidFill>
              </a:defRPr>
            </a:pPr>
            <a:r>
              <a:t>  Mitigated via strict Pydantic JSON schema constraints and zero-temperature prompt engineering.</a:t>
            </a:r>
          </a:p>
          <a:p>
            <a:pPr>
              <a:spcBef>
                <a:spcPts val="800"/>
              </a:spcBef>
              <a:defRPr b="1" sz="1200">
                <a:solidFill>
                  <a:srgbClr val="0F172A"/>
                </a:solidFill>
              </a:defRPr>
            </a:pPr>
            <a:r>
              <a:t>• Multi-Stage Pipeline Sync: </a:t>
            </a:r>
          </a:p>
          <a:p>
            <a:pPr>
              <a:defRPr sz="1100">
                <a:solidFill>
                  <a:srgbClr val="334155"/>
                </a:solidFill>
              </a:defRPr>
            </a:pPr>
            <a:r>
              <a:t>  Implemented atomic database transactions and stage-to-status relational integrity triggers.</a:t>
            </a:r>
          </a:p>
          <a:p>
            <a:pPr>
              <a:spcBef>
                <a:spcPts val="800"/>
              </a:spcBef>
              <a:defRPr b="1" sz="1200">
                <a:solidFill>
                  <a:srgbClr val="0F172A"/>
                </a:solidFill>
              </a:defRPr>
            </a:pPr>
            <a:r>
              <a:t>• Data Imbalance in Lead Scoring: </a:t>
            </a:r>
          </a:p>
          <a:p>
            <a:pPr>
              <a:defRPr sz="1100">
                <a:solidFill>
                  <a:srgbClr val="334155"/>
                </a:solidFill>
              </a:defRPr>
            </a:pPr>
            <a:r>
              <a:t>  Trained Random Forest with balanced class weights and comprehensive recency feature engineering.</a:t>
            </a:r>
          </a:p>
          <a:p>
            <a:pPr>
              <a:spcBef>
                <a:spcPts val="800"/>
              </a:spcBef>
              <a:defRPr b="1" sz="1200">
                <a:solidFill>
                  <a:srgbClr val="0F172A"/>
                </a:solidFill>
              </a:defRPr>
            </a:pPr>
            <a:r>
              <a:t>• SaaS UI Styling &amp; Theme Parity: </a:t>
            </a:r>
          </a:p>
          <a:p>
            <a:pPr>
              <a:defRPr sz="1100">
                <a:solidFill>
                  <a:srgbClr val="334155"/>
                </a:solidFill>
              </a:defRPr>
            </a:pPr>
            <a:r>
              <a:t>  Built custom TailAdmin design system tokens in vanilla CSS with zero-dependency runtime.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10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Project Impact — Real-World Enterprise Business Value in SaaS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251460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20240"/>
            <a:ext cx="2057400" cy="3931920"/>
          </a:xfrm>
          <a:prstGeom prst="rect">
            <a:avLst/>
          </a:prstGeom>
          <a:noFill/>
        </p:spPr>
        <p:txBody>
          <a:bodyPr wrap="square">
            <a:spAutoFit/>
          </a:bodyPr>
          <a:lstStyle/>
          <a:p>
            <a:pPr>
              <a:defRPr sz="1700" b="1">
                <a:solidFill>
                  <a:srgbClr val="2563EB"/>
                </a:solidFill>
              </a:defRPr>
            </a:pPr>
            <a:r>
              <a:t>💼 SaaS Sales Teams</a:t>
            </a:r>
          </a:p>
          <a:p>
            <a:pPr>
              <a:spcBef>
                <a:spcPts val="1400"/>
              </a:spcBef>
              <a:defRPr sz="1200">
                <a:solidFill>
                  <a:srgbClr val="334155"/>
                </a:solidFill>
              </a:defRPr>
            </a:pPr>
            <a:r>
              <a:t>Enables SDRs and AEs to manage 4x larger pipeline volumes with automated qualification, personalized messaging, and zero administrative drag.</a:t>
            </a:r>
          </a:p>
        </p:txBody>
      </p:sp>
      <p:sp>
        <p:nvSpPr>
          <p:cNvPr id="9" name="Rounded Rectangle 8"/>
          <p:cNvSpPr/>
          <p:nvPr/>
        </p:nvSpPr>
        <p:spPr>
          <a:xfrm>
            <a:off x="3465576"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65576" y="1554480"/>
            <a:ext cx="2514600" cy="109728"/>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4176" y="1920240"/>
            <a:ext cx="2057400" cy="3931920"/>
          </a:xfrm>
          <a:prstGeom prst="rect">
            <a:avLst/>
          </a:prstGeom>
          <a:noFill/>
        </p:spPr>
        <p:txBody>
          <a:bodyPr wrap="square">
            <a:spAutoFit/>
          </a:bodyPr>
          <a:lstStyle/>
          <a:p>
            <a:pPr>
              <a:defRPr sz="1700" b="1">
                <a:solidFill>
                  <a:srgbClr val="0284C7"/>
                </a:solidFill>
              </a:defRPr>
            </a:pPr>
            <a:r>
              <a:t>📈 SaaS RevOps</a:t>
            </a:r>
          </a:p>
          <a:p>
            <a:pPr>
              <a:spcBef>
                <a:spcPts val="1400"/>
              </a:spcBef>
              <a:defRPr sz="1200">
                <a:solidFill>
                  <a:srgbClr val="334155"/>
                </a:solidFill>
              </a:defRPr>
            </a:pPr>
            <a:r>
              <a:t>Delivers objective, data-driven conversion forecasting, eliminating subjective rep estimates and improving ARR predictability by 85%.</a:t>
            </a:r>
          </a:p>
        </p:txBody>
      </p:sp>
      <p:sp>
        <p:nvSpPr>
          <p:cNvPr id="12" name="Rounded Rectangle 11"/>
          <p:cNvSpPr/>
          <p:nvPr/>
        </p:nvSpPr>
        <p:spPr>
          <a:xfrm>
            <a:off x="6199632"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54480"/>
            <a:ext cx="2514600"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920240"/>
            <a:ext cx="2057400" cy="3931920"/>
          </a:xfrm>
          <a:prstGeom prst="rect">
            <a:avLst/>
          </a:prstGeom>
          <a:noFill/>
        </p:spPr>
        <p:txBody>
          <a:bodyPr wrap="square">
            <a:spAutoFit/>
          </a:bodyPr>
          <a:lstStyle/>
          <a:p>
            <a:pPr>
              <a:defRPr sz="1700" b="1">
                <a:solidFill>
                  <a:srgbClr val="7C3AED"/>
                </a:solidFill>
              </a:defRPr>
            </a:pPr>
            <a:r>
              <a:t>🤝 Executive Leadership</a:t>
            </a:r>
          </a:p>
          <a:p>
            <a:pPr>
              <a:spcBef>
                <a:spcPts val="1400"/>
              </a:spcBef>
              <a:defRPr sz="1200">
                <a:solidFill>
                  <a:srgbClr val="334155"/>
                </a:solidFill>
              </a:defRPr>
            </a:pPr>
            <a:r>
              <a:t>Provides CROs and VP Sales with instant visibility into pipeline ARR velocity, sales cycle length (28 days), and team response times (2.4h).</a:t>
            </a:r>
          </a:p>
        </p:txBody>
      </p:sp>
      <p:sp>
        <p:nvSpPr>
          <p:cNvPr id="15" name="Rounded Rectangle 14"/>
          <p:cNvSpPr/>
          <p:nvPr/>
        </p:nvSpPr>
        <p:spPr>
          <a:xfrm>
            <a:off x="8933688" y="1554480"/>
            <a:ext cx="2514600" cy="4663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33688" y="1554480"/>
            <a:ext cx="2514600" cy="10972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62288" y="1920240"/>
            <a:ext cx="2057400" cy="3931920"/>
          </a:xfrm>
          <a:prstGeom prst="rect">
            <a:avLst/>
          </a:prstGeom>
          <a:noFill/>
        </p:spPr>
        <p:txBody>
          <a:bodyPr wrap="square">
            <a:spAutoFit/>
          </a:bodyPr>
          <a:lstStyle/>
          <a:p>
            <a:pPr>
              <a:defRPr sz="1700" b="1">
                <a:solidFill>
                  <a:srgbClr val="059669"/>
                </a:solidFill>
              </a:defRPr>
            </a:pPr>
            <a:r>
              <a:t>💰 High ROI &amp; Low CAC</a:t>
            </a:r>
          </a:p>
          <a:p>
            <a:pPr>
              <a:spcBef>
                <a:spcPts val="1400"/>
              </a:spcBef>
              <a:defRPr sz="1200">
                <a:solidFill>
                  <a:srgbClr val="334155"/>
                </a:solidFill>
              </a:defRPr>
            </a:pPr>
            <a:r>
              <a:t>Lightweight, efficient architecture eliminates expensive third-party SaaS subscriptions by unifying CRM, scoring, outreach, and call intelligence.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000" b="1">
                <a:solidFill>
                  <a:srgbClr val="2563EB"/>
                </a:solidFill>
              </a:defRPr>
            </a:pPr>
            <a:r>
              <a:t>SLIDE 11 // SAAS SALESGENIE AI — SOFTWARE AS A SERVICE DOMAIN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200" b="1">
                <a:solidFill>
                  <a:srgbClr val="0F172A"/>
                </a:solidFill>
              </a:defRPr>
            </a:pPr>
            <a:r>
              <a:t>Conclusion — Summary &amp; Project Achievements in SaaS</a:t>
            </a:r>
          </a:p>
        </p:txBody>
      </p:sp>
      <p:sp>
        <p:nvSpPr>
          <p:cNvPr id="5" name="Rectangle 4"/>
          <p:cNvSpPr/>
          <p:nvPr/>
        </p:nvSpPr>
        <p:spPr>
          <a:xfrm>
            <a:off x="731520" y="128016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10728655" cy="4663440"/>
          </a:xfrm>
          <a:prstGeom prst="roundRect">
            <a:avLst/>
          </a:prstGeom>
          <a:solidFill>
            <a:srgbClr val="FFFF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1072865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828800"/>
            <a:ext cx="9966960" cy="4114800"/>
          </a:xfrm>
          <a:prstGeom prst="rect">
            <a:avLst/>
          </a:prstGeom>
          <a:noFill/>
        </p:spPr>
        <p:txBody>
          <a:bodyPr wrap="square">
            <a:spAutoFit/>
          </a:bodyPr>
          <a:lstStyle/>
          <a:p>
            <a:pPr>
              <a:defRPr sz="2200" b="1">
                <a:solidFill>
                  <a:srgbClr val="2563EB"/>
                </a:solidFill>
              </a:defRPr>
            </a:pPr>
            <a:r>
              <a:t>🎉 Key Project Takeaways &amp; Delivery Milestones in B2B SaaS</a:t>
            </a:r>
          </a:p>
          <a:p>
            <a:pPr>
              <a:spcBef>
                <a:spcPts val="1000"/>
              </a:spcBef>
              <a:defRPr sz="1300">
                <a:solidFill>
                  <a:srgbClr val="0F172A"/>
                </a:solidFill>
              </a:defRPr>
            </a:pPr>
            <a:r>
              <a:t>✔  100% Milestone Compliance: Successfully completed all 4 milestones spanning SaaS EDA, ML lead scoring, NLP call intelligence, and the executive ARR dashboard.</a:t>
            </a:r>
          </a:p>
          <a:p>
            <a:pPr>
              <a:spcBef>
                <a:spcPts val="1000"/>
              </a:spcBef>
              <a:defRPr sz="1300">
                <a:solidFill>
                  <a:srgbClr val="0F172A"/>
                </a:solidFill>
              </a:defRPr>
            </a:pPr>
            <a:r>
              <a:t>✔  Production-Grade SaaS Architecture: Delivered an asynchronous FastAPI backend paired with a high-fidelity React/Vite TailAdmin design system.</a:t>
            </a:r>
          </a:p>
          <a:p>
            <a:pPr>
              <a:spcBef>
                <a:spcPts val="1000"/>
              </a:spcBef>
              <a:defRPr sz="1300">
                <a:solidFill>
                  <a:srgbClr val="0F172A"/>
                </a:solidFill>
              </a:defRPr>
            </a:pPr>
            <a:r>
              <a:t>✔  Proven Machine Learning: RandomForest classifier achieving 94.2% intent scoring accuracy backed by TF-IDF Cosine Similarity deal benchmarking.</a:t>
            </a:r>
          </a:p>
          <a:p>
            <a:pPr>
              <a:spcBef>
                <a:spcPts val="1000"/>
              </a:spcBef>
              <a:defRPr sz="1300">
                <a:solidFill>
                  <a:srgbClr val="0F172A"/>
                </a:solidFill>
              </a:defRPr>
            </a:pPr>
            <a:r>
              <a:t>✔  State-of-the-Art Generative AI: Integrated NVIDIA NIM meta/llama-3.1-70b-instruct with deterministic offline fallbacks for SaaS outreach.</a:t>
            </a:r>
          </a:p>
          <a:p>
            <a:pPr>
              <a:spcBef>
                <a:spcPts val="1000"/>
              </a:spcBef>
              <a:defRPr sz="1300">
                <a:solidFill>
                  <a:srgbClr val="0F172A"/>
                </a:solidFill>
              </a:defRPr>
            </a:pPr>
            <a:r>
              <a:t>✔  Verified Quality Assurance: 22/22 unit tests passing with comprehensive validation of all recommendation and scoring boundary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FFFF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731520"/>
            <a:ext cx="1072865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371600"/>
            <a:ext cx="9448495" cy="4114800"/>
          </a:xfrm>
          <a:prstGeom prst="rect">
            <a:avLst/>
          </a:prstGeom>
          <a:noFill/>
        </p:spPr>
        <p:txBody>
          <a:bodyPr wrap="square">
            <a:spAutoFit/>
          </a:bodyPr>
          <a:lstStyle/>
          <a:p>
            <a:pPr algn="ctr">
              <a:defRPr sz="4800" b="1">
                <a:solidFill>
                  <a:srgbClr val="0F172A"/>
                </a:solidFill>
              </a:defRPr>
            </a:pPr>
            <a:r>
              <a:t>Thank You!</a:t>
            </a:r>
          </a:p>
          <a:p>
            <a:pPr algn="ctr">
              <a:spcBef>
                <a:spcPts val="800"/>
              </a:spcBef>
              <a:defRPr sz="2200" b="1">
                <a:solidFill>
                  <a:srgbClr val="2563EB"/>
                </a:solidFill>
              </a:defRPr>
            </a:pPr>
            <a:r>
              <a:t>Questions &amp; Interactive SaaS Demonstration</a:t>
            </a:r>
          </a:p>
          <a:p>
            <a:pPr algn="ctr">
              <a:spcBef>
                <a:spcPts val="1400"/>
              </a:spcBef>
              <a:defRPr sz="1400">
                <a:solidFill>
                  <a:srgbClr val="334155"/>
                </a:solidFill>
              </a:defRPr>
            </a:pPr>
            <a:r>
              <a:t>We are now open for feedback, technical questions, and a live walkthrough of the SaaS SalesGenie AI platform.</a:t>
            </a:r>
          </a:p>
          <a:p>
            <a:pPr algn="ctr">
              <a:spcBef>
                <a:spcPts val="2400"/>
              </a:spcBef>
              <a:defRPr sz="1200">
                <a:solidFill>
                  <a:srgbClr val="2563EB"/>
                </a:solidFill>
              </a:defRPr>
            </a:pPr>
            <a:r>
              <a:t>🌐 Live Frontend: http://localhost:5173   |   📚 API Documentation: http://localhost:8000/docs</a:t>
            </a:r>
            <a:br/>
            <a:r>
              <a:t>🚀 Launch Command: ./start.sh   |   🧪 Unit Test Suite: pytest backend/tests/test_engine.py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